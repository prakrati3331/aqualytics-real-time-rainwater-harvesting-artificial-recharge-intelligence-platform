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ink/ink8.xml" ContentType="application/inkml+xml"/>
  <Override PartName="/ppt/ink/ink18.xml" ContentType="application/inkml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ink/ink6.xml" ContentType="application/inkml+xml"/>
  <Override PartName="/ppt/ink/ink7.xml" ContentType="application/inkml+xml"/>
  <Override PartName="/ppt/ink/ink16.xml" ContentType="application/inkml+xml"/>
  <Override PartName="/ppt/ink/ink17.xml" ContentType="application/inkml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ink/ink3.xml" ContentType="application/inkml+xml"/>
  <Override PartName="/ppt/ink/ink4.xml" ContentType="application/inkml+xml"/>
  <Override PartName="/ppt/ink/ink5.xml" ContentType="application/inkml+xml"/>
  <Override PartName="/ppt/ink/ink14.xml" ContentType="application/inkml+xml"/>
  <Override PartName="/ppt/ink/ink15.xml" ContentType="application/inkml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12.xml" ContentType="application/inkml+xml"/>
  <Override PartName="/ppt/ink/ink13.xml" ContentType="application/inkml+xml"/>
  <Override PartName="/ppt/ink/ink21.xml" ContentType="application/inkml+xml"/>
  <Override PartName="/ppt/ink/ink22.xml" ContentType="application/inkml+xml"/>
  <Override PartName="/ppt/slideLayouts/slideLayout10.xml" ContentType="application/vnd.openxmlformats-officedocument.presentationml.slideLayout+xml"/>
  <Override PartName="/ppt/ink/ink10.xml" ContentType="application/inkml+xml"/>
  <Override PartName="/ppt/ink/ink11.xml" ContentType="application/inkml+xml"/>
  <Override PartName="/ppt/ink/ink20.xml" ContentType="application/inkml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ink/ink19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CC"/>
    <a:srgbClr val="010000"/>
    <a:srgbClr val="727272"/>
    <a:srgbClr val="9BBB59"/>
    <a:srgbClr val="18EEE4"/>
    <a:srgbClr val="FFCC00"/>
    <a:srgbClr val="39B0D4"/>
    <a:srgbClr val="FFA751"/>
    <a:srgbClr val="32323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660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-900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55.1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6 24440,'-3'-5'0,"3"17"0,3-14 0,-3-3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59.4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32 24575,'0'82'0,"0"-50"0,0-26 0,0-11 0,0-92 0,0 57 0,0 30 0,0 12 0,0 80 0,0-48 0,0-28 0,0-11 0,0-44 0,0 31 0,0 26 0,0-6 0,1 0 0,0 0 0,-1 0 0,1 0 0,0 0 0,0-1 0,0 1 0,1 0 0,-1 0 0,0-1 0,1 1 0,-1-1 0,1 1 0,-1-1 0,1 1 0,0-1 0,0 0 0,-1 0 0,1 0 0,0 0 0,0 0 0,0 0 0,0-1 0,0 1 0,3 0 0,-1 0 0,-1 0 0,1 0 0,0 0 0,0 0 0,-1-1 0,1 0 0,0 0 0,0 0 0,0 0 0,-1 0 0,1-1 0,0 1 0,6-3 0,2 0 0,-14 11 0,1-7 0,0 1 0,0 0 0,-1-1 0,1 1 0,0-1 0,-1 0 0,1 1 0,-1-1 0,0 0 0,1 0 0,-1 0 0,-2 1 0,2-1 0,0-1 0,1 1 0,-1-1 0,0 0 0,1 0 0,-1 0 0,0 0 0,1 0 0,-1-1 0,0 1 0,1 0 0,-1-1 0,0 1 0,1-1 0,-1 1 0,1-1 0,-1 0 0,1 0 0,-1 0 0,1 0 0,0 0 0,-1 0 0,1 0 0,0 0 0,-2-2 0,-7-6 0,10 9 0,0 0 0,0 0 0,-1 0 0,1 0 0,0 0 0,0 0 0,0 0 0,0 0 0,0-1 0,-1 1 0,1 0 0,0 0 0,0 0 0,0 0 0,0 0 0,-1 0 0,1 0 0,0 0 0,0 0 0,0 0 0,0 0 0,-1 0 0,1 0 0,0 0 0,0 1 0,0-1 0,0 0 0,0 0 0,-1 0 0,1 0 0,0 0 0,0 0 0,0 0 0,0 0 0,0 0 0,0 1 0,0-1 0,-1 0 0,1 0 0,0 0 0,0 0 0,0 0 0,0 1 0,0-1 0,0 0 0,0 0 0,-3 13 0,2 13 0,1-25 0,1-31 0,0-23 0,0 51 0,-1 8 0,0 38 0,0-38 0,0-8 0,0-19 0,0 15 0,-1 0 0,1 1 0,-1-1 0,0 1 0,0 0 0,-1-1 0,1 1 0,-3-6 0,3 11 0,1 0 0,0 0 0,0 0 0,-1 0 0,1 0 0,0-1 0,0 1 0,-1 0 0,1 0 0,0 0 0,0 0 0,-1 0 0,1 0 0,0 0 0,0 0 0,-1 0 0,1 0 0,0 0 0,0 0 0,-1 0 0,1 0 0,0 0 0,-1 0 0,1 0 0,0 0 0,0 1 0,0-1 0,-1 0 0,1 0 0,0 0 0,0 0 0,-1 0 0,1 1 0,0-1 0,0 0 0,0 0 0,0 0 0,-1 1 0,1-1 0,0 0 0,0 0 0,0 1 0,0-1 0,0 0 0,0 0 0,0 1 0,-1-1 0,1 0 0,0 0 0,0 1 0,0-1 0,0 0 0,0 1 0,0-1 0,1 1 0,-8 22 0,5-17 0,2-45 0,0 27 0,1 28 0,-1 26-1365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10.5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24575,'5'0'0,"7"0"0,5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11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139 0 24575,'-5'0'0,"-6"0"0,-7 0 0,-4 0 0,-4 0 0,-1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38.1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50 24575,'0'-5'0,"0"-6"0,0-6 0,0 4 0,0 10 0,5 5 0,7 2 0,5 0 0,1 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39.2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9 24575,'-10'0'0,"-7"0"0,-7 0 0,-3 0 0,3 4 0,10 3 0,7-6 0,5-7 0,-1-3 0,-1 5 0,-5 3 0,0 7 0,1 6 0,2 7 0,7 0 0,3-3-8191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39.6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40.4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40.5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41.6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0 266 24575,'1'-7'0,"0"0"0,0 0 0,0 0 0,1 0 0,0 0 0,0 0 0,1 0 0,4-8 0,35-54 0,-13 23 0,-14 16 0,-15 26 0,-11 19 0,8-11 0,-1 1 0,2 1 0,-1-1 0,0 0 0,1 1 0,0-1 0,-1 9 0,3-14 0,-1 1 0,1 0 0,0 0 0,0 0 0,0 0 0,0-1 0,0 1 0,0 0 0,0 0 0,0 0 0,1 0 0,-1-1 0,0 1 0,0 0 0,1 0 0,-1 0 0,0-1 0,1 1 0,-1 0 0,1-1 0,-1 1 0,2 1 0,-1-2 0,0 1 0,0-1 0,1 1 0,-1-1 0,0 0 0,1 0 0,-1 0 0,0 1 0,1-1 0,-1 0 0,1-1 0,-1 1 0,0 0 0,1 0 0,-1-1 0,0 1 0,0 0 0,1-1 0,1 0 0,9-5 0,1 0 0,-1-1 0,-1-1 0,1 1 0,-1-2 0,16-15 0,-16 13 0,0 2 0,1-1 0,0 2 0,27-15 0,-39 23 0,0 0 0,0 0 0,0 0 0,0 0 0,0 0 0,1 0 0,-1 0 0,0 0 0,0 0 0,0 0 0,0 0 0,0 0 0,1 0 0,-1 0 0,0 0 0,0 0 0,0 0 0,0 0 0,0 1 0,0-1 0,0 0 0,1 0 0,-1 0 0,0 0 0,0 0 0,0 0 0,0 0 0,0 1 0,0-1 0,0 0 0,0 0 0,0 0 0,0 0 0,0 0 0,0 1 0,0-1 0,0 0 0,0 0 0,0 0 0,0 0 0,0 0 0,0 1 0,0-1 0,0 0 0,0 0 0,0 0 0,0 0 0,0 0 0,0 1 0,0-1 0,0 0 0,0 0 0,0 0 0,-1 0 0,1 0 0,0 0 0,0 0 0,0 1 0,0-1 0,0 0 0,0 0 0,0 0 0,-1 0 0,1 0 0,-9 20 0,-15 22 0,5-10 0,-2-1 0,-48 56 0,34-39-1365,24-35-5461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2:43.4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89 119 24575,'-2'-1'0,"-1"1"0,1-1 0,0 1 0,0-1 0,0 0 0,0 0 0,0 0 0,0 0 0,0-1 0,1 1 0,-1 0 0,0-1 0,0 1 0,1-1 0,-1 0 0,1 1 0,0-1 0,0 0 0,-1 0 0,1 0 0,-1-4 0,1 4 0,-1-1 0,1 1 0,0 0 0,-1 0 0,0 0 0,1 0 0,-1 0 0,0 0 0,0 0 0,0 0 0,0 1 0,-5-3 0,7 4 0,-1 0 0,0 0 0,0 0 0,1 0 0,-1 0 0,0 0 0,1 0 0,-1 0 0,0 1 0,1-1 0,-1 0 0,0 1 0,1-1 0,-1 0 0,1 1 0,-1-1 0,1 1 0,-1-1 0,1 1 0,-1-1 0,1 1 0,-1-1 0,1 1 0,-1 0 0,1-1 0,0 1 0,-1 0 0,1-1 0,0 1 0,0 0 0,0-1 0,-1 1 0,1 0 0,0-1 0,0 1 0,0 0 0,0 1 0,-4 30 0,4-29 0,-2 18 0,3-34 0,2-35 0,-3 45 0,1-1 0,0 1 0,0-1 0,1 1 0,-1 0 0,1-1 0,0 1 0,-1 0 0,1 0 0,0 0 0,1 1 0,-1-1 0,1 0 0,-1 1 0,1-1 0,0 1 0,-1 0 0,1 0 0,1 0 0,-1 0 0,0 1 0,0-1 0,0 1 0,1 0 0,6-1 0,-7 1 0,0 0 0,1 0 0,-1 1 0,0-1 0,0 1 0,1 0 0,-1 0 0,0 0 0,1 0 0,-1 1 0,0 0 0,0-1 0,1 1 0,-1 0 0,0 1 0,0-1 0,0 0 0,0 1 0,0 0 0,0-1 0,-1 1 0,1 0 0,-1 1 0,1-1 0,-1 0 0,0 1 0,3 4 0,-4-7-1,-1 0 0,0 0 0,0 0 0,0 0 0,0 0 0,0 0 0,0 0 0,0 0 0,0 0 0,1 1 0,-1-1 0,0 0 0,0 0 0,0 0 0,0 0 0,0 0-1,0 0 1,0 0 0,0 1 0,0-1 0,0 0 0,0 0 0,0 0 0,0 0 0,0 0 0,0 0 0,0 1 0,0-1 0,0 0 0,0 0 0,0 0 0,0 0 0,0 0 0,0 0 0,0 1 0,0-1 0,0 0 0,0 0 0,0 0-1,0 0 1,0 0 0,0 0 0,0 1 0,-1-1 0,1 0 0,0 0 0,0 0 0,0 0 0,0 0 0,0 0 0,0 0 0,0 0 0,-1 0 0,1 0 0,0 0 0,-11-3 146,-10-10-1597,7-1-5374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17.2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18.0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24575,'0'5'0,"5"1"0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23.7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24575,'5'0'0,"7"0"0,0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19.9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20.9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 1 24575,'-5'0'0,"-1"5"0,0 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25.5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 1 24575,'-5'0'0,"-6"0"0,-6 0 0,-1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47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185 115 24575,'0'-2'0,"0"-1"0,-1 1 0,1 0 0,0-1 0,-1 1 0,0 0 0,0 0 0,0-1 0,0 1 0,0 0 0,0 0 0,0 0 0,0 0 0,-1 0 0,1 1 0,-1-1 0,0 0 0,1 1 0,-1-1 0,0 1 0,-4-3 0,-3-1 0,-1 0 0,-1 0 0,-15-5 0,1 1 0,-51-18 0,76 27 0,0 0 0,1 0 0,-1 0 0,0 0 0,0 0 0,0 0 0,0 0 0,0 0 0,0 0 0,0 0 0,0 0 0,0 0 0,1 0 0,-1 0 0,0 0 0,0 0 0,0 0 0,0-1 0,0 1 0,0 0 0,0 0 0,0 0 0,0 0 0,0 0 0,0 0 0,0 0 0,0 0 0,0 0 0,0 0 0,1 0 0,-1-1 0,0 1 0,0 0 0,0 0 0,0 0 0,0 0 0,0 0 0,0 0 0,0 0 0,0 0 0,0 0 0,0-1 0,0 1 0,0 0 0,0 0 0,0 0 0,0 0 0,-1 0 0,1 0 0,0 0 0,0 0 0,0 0 0,19-3 0,23 2 0,-35 1 0,8 0 0,-1 1 0,22 3 0,-31-3 0,-1 1 0,1-1 0,0 1 0,0 0 0,-1 0 0,1 0 0,-1 1 0,0 0 0,0-1 0,7 8 0,1-1 0,0-1 0,0 0 0,1-1 0,0 0 0,0-1 0,0-1 0,1 0 0,0-1 0,26 5 0,24 9 0,37 19 0,53 16 0,-136-47-151,-1 0-1,1 1 0,-1 1 0,-1 1 1,0 0-1,0 2 0,-1-1 1,22 21-1,-22-17-6674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41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24575,'5'0'0,"6"0"0,6 0 0,6 0 0,-3 5 0,-3 6 0,-5 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42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 24575,'-5'0'0,"-6"0"0,-6 0 0,4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52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21:03:54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55 24575,'-24'-17'0,"21"15"0,-1 0 0,1-1 0,0 1 0,0-1 0,0 1 0,0-1 0,-4-5 0,7 8 0,-1-1 0,1 1 0,0 0 0,0 0 0,0 0 0,0-1 0,0 1 0,-1 0 0,1 0 0,0-1 0,0 1 0,0 0 0,0 0 0,0-1 0,0 1 0,0 0 0,0 0 0,0-1 0,0 1 0,0 0 0,0 0 0,0-1 0,0 1 0,0 0 0,0 0 0,0 0 0,1-1 0,-1 1 0,0 0 0,0 0 0,0-1 0,0 1 0,0 0 0,0 0 0,1 0 0,-1 0 0,0-1 0,0 1 0,1 0 0,12-4 0,15 7 0,-24-1 0,0 1 0,0 0 0,-1 0 0,1 0 0,0 0 0,-1 0 0,0 1 0,0 0 0,5 7 0,23 42 0,-27-45 0,6 9 0,14 31 0,-56-77 0,-61-53-1365,78 69-5461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3.xml"/><Relationship Id="rId39" Type="http://schemas.openxmlformats.org/officeDocument/2006/relationships/customXml" Target="../ink/ink20.xml"/><Relationship Id="rId3" Type="http://schemas.openxmlformats.org/officeDocument/2006/relationships/image" Target="../media/image2.png"/><Relationship Id="rId21" Type="http://schemas.openxmlformats.org/officeDocument/2006/relationships/image" Target="../media/image12.png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image" Target="../media/image26.jpeg"/><Relationship Id="rId50" Type="http://schemas.openxmlformats.org/officeDocument/2006/relationships/image" Target="../media/image29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4.png"/><Relationship Id="rId33" Type="http://schemas.openxmlformats.org/officeDocument/2006/relationships/customXml" Target="../ink/ink17.xml"/><Relationship Id="rId38" Type="http://schemas.openxmlformats.org/officeDocument/2006/relationships/image" Target="../media/image20.png"/><Relationship Id="rId46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41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32" Type="http://schemas.openxmlformats.org/officeDocument/2006/relationships/image" Target="../media/image17.png"/><Relationship Id="rId37" Type="http://schemas.openxmlformats.org/officeDocument/2006/relationships/customXml" Target="../ink/ink19.xml"/><Relationship Id="rId40" Type="http://schemas.openxmlformats.org/officeDocument/2006/relationships/image" Target="../media/image21.png"/><Relationship Id="rId45" Type="http://schemas.openxmlformats.org/officeDocument/2006/relationships/image" Target="../media/image24.png"/><Relationship Id="rId53" Type="http://schemas.openxmlformats.org/officeDocument/2006/relationships/image" Target="../media/image32.jpe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image" Target="../media/image19.png"/><Relationship Id="rId49" Type="http://schemas.openxmlformats.org/officeDocument/2006/relationships/image" Target="../media/image28.png"/><Relationship Id="rId10" Type="http://schemas.openxmlformats.org/officeDocument/2006/relationships/customXml" Target="../ink/ink4.xml"/><Relationship Id="rId19" Type="http://schemas.openxmlformats.org/officeDocument/2006/relationships/customXml" Target="../ink/ink9.xml"/><Relationship Id="rId31" Type="http://schemas.openxmlformats.org/officeDocument/2006/relationships/customXml" Target="../ink/ink16.xml"/><Relationship Id="rId44" Type="http://schemas.openxmlformats.org/officeDocument/2006/relationships/image" Target="../media/image23.png"/><Relationship Id="rId52" Type="http://schemas.openxmlformats.org/officeDocument/2006/relationships/image" Target="../media/image31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27.jpeg"/><Relationship Id="rId8" Type="http://schemas.openxmlformats.org/officeDocument/2006/relationships/customXml" Target="../ink/ink3.xml"/><Relationship Id="rId51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ngres.iith.ac.in/gecdataonline/gis/INDIA;parentLocName=INDIA;locname=INDIA;loctype=COUNTRY;view=ADMIN;locuuid=ffce954d-24e1-494b-ba7e-0931d8ad6085;year=2024-2025;computationType=normal;component=recharge;period=annual;category=safe;mapOnClickParams=false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ced.niti.gov.in/climate-and-environment/water/ground-water-level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spi.gov.in/state-wise-ground-water-resources-india-2024" TargetMode="External"/><Relationship Id="rId5" Type="http://schemas.openxmlformats.org/officeDocument/2006/relationships/hyperlink" Target="https://mausam.imd.gov.in/responsive/rainfallinformation.php?msg=C" TargetMode="External"/><Relationship Id="rId4" Type="http://schemas.openxmlformats.org/officeDocument/2006/relationships/hyperlink" Target="https://cgwa.mowr.gov.in/" TargetMode="External"/><Relationship Id="rId9" Type="http://schemas.openxmlformats.org/officeDocument/2006/relationships/hyperlink" Target="https://cgwb.gov.in/cgwbpnm/public/uploads/documents/168613799816608756fil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=""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46977" y="176737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42390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51094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017" y="1317643"/>
            <a:ext cx="839993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25065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Designing and development of an application for on spot assessment of Roof Top Rain water harvesting and artificial recharge potential and size of the RTRWH and AR.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ID-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Code Infantry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9925" y="-20529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AQUALYTICS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85350" y="145322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Infantry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="" xmlns:a16="http://schemas.microsoft.com/office/drawing/2014/main" id="{277F65E2-5643-62BB-ABFF-4BAFB465D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46" y="1205467"/>
            <a:ext cx="121919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Addressing the Problem:</a:t>
            </a:r>
            <a:endParaRPr lang="en-US" sz="1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F4815CE9-BA16-74DC-19D5-5452D11A4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1759974" cy="2067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8507DDDC-0637-EF30-2539-9FB92E8E5C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644" t="21379" r="38659" b="19689"/>
          <a:stretch>
            <a:fillRect/>
          </a:stretch>
        </p:blipFill>
        <p:spPr>
          <a:xfrm>
            <a:off x="5115633" y="2299683"/>
            <a:ext cx="2269134" cy="2862322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55721407-D177-02FB-1D48-06B0FEFF628D}"/>
              </a:ext>
            </a:extLst>
          </p:cNvPr>
          <p:cNvSpPr txBox="1"/>
          <p:nvPr/>
        </p:nvSpPr>
        <p:spPr>
          <a:xfrm>
            <a:off x="158084" y="1553325"/>
            <a:ext cx="49915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Groundwater replenishment </a:t>
            </a: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is critical for sustainable water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Significant </a:t>
            </a:r>
            <a:r>
              <a:rPr lang="en-US" sz="14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potential exists for </a:t>
            </a:r>
            <a:r>
              <a:rPr lang="en-US" sz="14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RTRWH </a:t>
            </a: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and </a:t>
            </a:r>
            <a:r>
              <a:rPr lang="en-US" sz="14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AR</a:t>
            </a: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No user-friendly </a:t>
            </a:r>
            <a:r>
              <a:rPr lang="en-US" sz="14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digital platform currently </a:t>
            </a: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exists.</a:t>
            </a:r>
            <a:endParaRPr lang="en-US" sz="14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Existing </a:t>
            </a:r>
            <a:r>
              <a:rPr lang="en-US" sz="14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CGWB </a:t>
            </a:r>
            <a:r>
              <a:rPr lang="en-US" sz="14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manuals</a:t>
            </a: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are </a:t>
            </a:r>
            <a:r>
              <a:rPr lang="en-US" sz="14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not </a:t>
            </a:r>
            <a:r>
              <a:rPr lang="en-US" sz="14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easily accessible</a:t>
            </a:r>
            <a:r>
              <a:rPr lang="en-US" sz="14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to the general public.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Lack of easy </a:t>
            </a:r>
            <a:r>
              <a:rPr lang="en-US" sz="14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access </a:t>
            </a:r>
            <a:r>
              <a:rPr lang="en-US" sz="14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limits public.</a:t>
            </a:r>
            <a:endParaRPr lang="en-US" sz="14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="" xmlns:a16="http://schemas.microsoft.com/office/drawing/2014/main" id="{69786C21-D11A-2A42-9521-0C4A804A6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47" y="3582931"/>
            <a:ext cx="121919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1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D11C0C78-442F-0D37-1843-DDA40233F5AC}"/>
              </a:ext>
            </a:extLst>
          </p:cNvPr>
          <p:cNvSpPr txBox="1"/>
          <p:nvPr/>
        </p:nvSpPr>
        <p:spPr>
          <a:xfrm>
            <a:off x="158084" y="3859156"/>
            <a:ext cx="551787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Develop a web </a:t>
            </a: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application 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for </a:t>
            </a: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on-spot assessment of RTRWH and AR potential</a:t>
            </a: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Users input: 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Name and location, Number of dwellers, Roof area and available open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Application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uses </a:t>
            </a: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GIS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-based and </a:t>
            </a: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algorithmic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models to </a:t>
            </a: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generate personalized </a:t>
            </a: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outputs 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Feasibility check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for rooftop rainwater 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harvesting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300" b="1" dirty="0" smtClean="0">
                <a:ea typeface="Calibri" panose="020F0502020204030204" pitchFamily="34" charset="0"/>
                <a:cs typeface="Arial" panose="020B0604020202020204" pitchFamily="34" charset="0"/>
              </a:rPr>
              <a:t>Recommended dimensions </a:t>
            </a:r>
            <a:r>
              <a:rPr lang="en-US" sz="1300" dirty="0" smtClean="0">
                <a:ea typeface="Calibri" panose="020F0502020204030204" pitchFamily="34" charset="0"/>
                <a:cs typeface="Arial" panose="020B0604020202020204" pitchFamily="34" charset="0"/>
              </a:rPr>
              <a:t>of </a:t>
            </a:r>
            <a:r>
              <a:rPr lang="en-US" sz="1300" b="1" dirty="0" smtClean="0">
                <a:ea typeface="Calibri" panose="020F0502020204030204" pitchFamily="34" charset="0"/>
                <a:cs typeface="Arial" panose="020B0604020202020204" pitchFamily="34" charset="0"/>
              </a:rPr>
              <a:t>recharge pits, trenches, and shafts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Suggested types of RTRWH/AR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structures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Runoff </a:t>
            </a: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generation capacity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Cost </a:t>
            </a: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estimation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and cost-benefit 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analysis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="" xmlns:a16="http://schemas.microsoft.com/office/drawing/2014/main" id="{4B3405F3-D1EA-485E-DE33-CC98EC28D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085" y="1193370"/>
            <a:ext cx="121919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UML Diagram:</a:t>
            </a:r>
            <a:endParaRPr lang="en-US" sz="1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8">
            <a:extLst>
              <a:ext uri="{FF2B5EF4-FFF2-40B4-BE49-F238E27FC236}">
                <a16:creationId xmlns="" xmlns:a16="http://schemas.microsoft.com/office/drawing/2014/main" id="{339F5026-85C6-52EE-5278-7080DEDDC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085" y="4547421"/>
            <a:ext cx="121919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 and Uniqueness:</a:t>
            </a:r>
            <a:endParaRPr lang="en-US" sz="1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65C78E98-1AF5-FE31-1423-053DA514E1BE}"/>
              </a:ext>
            </a:extLst>
          </p:cNvPr>
          <p:cNvSpPr txBox="1"/>
          <p:nvPr/>
        </p:nvSpPr>
        <p:spPr>
          <a:xfrm>
            <a:off x="7367151" y="4847423"/>
            <a:ext cx="4819822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On-spot digital assessment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of RTRWH and AR potential.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GIS-based personalized </a:t>
            </a: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recommendations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Cost-benefit analysis 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integration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Inclusive design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with support for regional </a:t>
            </a:r>
            <a:r>
              <a:rPr lang="en-US" sz="1300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languages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Transforms CGWB scientific guidelines </a:t>
            </a:r>
            <a:r>
              <a:rPr lang="en-US" sz="1300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into a practical, user-friendly tool.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Empowers individuals and </a:t>
            </a:r>
            <a:r>
              <a:rPr lang="en-US" sz="1300" b="1" dirty="0" smtClean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communities</a:t>
            </a:r>
            <a:endParaRPr lang="en-US" sz="1300" dirty="0"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="" xmlns:a16="http://schemas.microsoft.com/office/drawing/2014/main" id="{526CF35E-033F-DF87-2CBB-37DB957CAB33}"/>
              </a:ext>
            </a:extLst>
          </p:cNvPr>
          <p:cNvCxnSpPr>
            <a:cxnSpLocks/>
          </p:cNvCxnSpPr>
          <p:nvPr/>
        </p:nvCxnSpPr>
        <p:spPr>
          <a:xfrm flipH="1">
            <a:off x="3044142" y="1395317"/>
            <a:ext cx="2320554" cy="16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="" xmlns:a16="http://schemas.microsoft.com/office/drawing/2014/main" id="{2EFF55AD-E9D1-40A9-F9AF-8DD046AA222F}"/>
              </a:ext>
            </a:extLst>
          </p:cNvPr>
          <p:cNvCxnSpPr>
            <a:cxnSpLocks/>
          </p:cNvCxnSpPr>
          <p:nvPr/>
        </p:nvCxnSpPr>
        <p:spPr>
          <a:xfrm flipH="1" flipV="1">
            <a:off x="5364697" y="1346169"/>
            <a:ext cx="3094" cy="15055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="" xmlns:a16="http://schemas.microsoft.com/office/drawing/2014/main" id="{5DAE7BEC-72E0-36EC-4E6B-4B84958C2E11}"/>
              </a:ext>
            </a:extLst>
          </p:cNvPr>
          <p:cNvCxnSpPr>
            <a:cxnSpLocks/>
          </p:cNvCxnSpPr>
          <p:nvPr/>
        </p:nvCxnSpPr>
        <p:spPr>
          <a:xfrm flipH="1">
            <a:off x="6400113" y="1382964"/>
            <a:ext cx="128690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="" xmlns:a16="http://schemas.microsoft.com/office/drawing/2014/main" id="{1EE89CD5-BB3B-0DC5-3BB8-8F55F076067F}"/>
              </a:ext>
            </a:extLst>
          </p:cNvPr>
          <p:cNvCxnSpPr>
            <a:cxnSpLocks/>
          </p:cNvCxnSpPr>
          <p:nvPr/>
        </p:nvCxnSpPr>
        <p:spPr>
          <a:xfrm>
            <a:off x="6400113" y="1369281"/>
            <a:ext cx="0" cy="10845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="" xmlns:a16="http://schemas.microsoft.com/office/drawing/2014/main" id="{3B18576D-3C1A-1629-727B-2BB516514068}"/>
              </a:ext>
            </a:extLst>
          </p:cNvPr>
          <p:cNvCxnSpPr>
            <a:cxnSpLocks/>
          </p:cNvCxnSpPr>
          <p:nvPr/>
        </p:nvCxnSpPr>
        <p:spPr>
          <a:xfrm flipH="1">
            <a:off x="2500132" y="3784671"/>
            <a:ext cx="359586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="" xmlns:a16="http://schemas.microsoft.com/office/drawing/2014/main" id="{7BC92A4A-ACDD-18BD-1EF5-6C0D021EF2DB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>
            <a:off x="6543675" y="4716698"/>
            <a:ext cx="1158410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A710CDC6-D70B-5F2B-8848-05BED07C0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394"/>
          <a:stretch>
            <a:fillRect/>
          </a:stretch>
        </p:blipFill>
        <p:spPr>
          <a:xfrm>
            <a:off x="7274303" y="1528851"/>
            <a:ext cx="4605616" cy="2843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42160" y="-8307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="" xmlns:a16="http://schemas.microsoft.com/office/drawing/2014/main" id="{E7ED2F14-8B43-B573-369E-B3318677F01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41018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Infantry</a:t>
            </a:r>
            <a:endParaRPr lang="en-IN" dirty="0"/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A731E08-BD0A-628E-B63C-3EABA8FF0B11}"/>
                  </a:ext>
                </a:extLst>
              </p14:cNvPr>
              <p14:cNvContentPartPr/>
              <p14:nvPr/>
            </p14:nvContentPartPr>
            <p14:xfrm rot="1676801">
              <a:off x="6044755" y="2324068"/>
              <a:ext cx="930" cy="4464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="" xmlns:a16="http://schemas.microsoft.com/office/drawing/2014/main" id="{0A731E08-BD0A-628E-B63C-3EABA8FF0B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676801">
                <a:off x="6040802" y="2318230"/>
                <a:ext cx="8835" cy="16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BFE9E82-572F-7009-3BBE-6BDD8DD0065B}"/>
                  </a:ext>
                </a:extLst>
              </p14:cNvPr>
              <p14:cNvContentPartPr/>
              <p14:nvPr/>
            </p14:nvContentPartPr>
            <p14:xfrm>
              <a:off x="6034240" y="2314960"/>
              <a:ext cx="40680" cy="54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="" xmlns:a16="http://schemas.microsoft.com/office/drawing/2014/main" id="{FBFE9E82-572F-7009-3BBE-6BDD8DD006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8120" y="2308840"/>
                <a:ext cx="5292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9CFE97AF-2A74-73D4-C28B-EB45B4DFF292}"/>
              </a:ext>
            </a:extLst>
          </p:cNvPr>
          <p:cNvGrpSpPr/>
          <p:nvPr/>
        </p:nvGrpSpPr>
        <p:grpSpPr>
          <a:xfrm>
            <a:off x="5944600" y="2336560"/>
            <a:ext cx="50040" cy="360"/>
            <a:chOff x="5944600" y="2336560"/>
            <a:chExt cx="50040" cy="3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22F6AA-7FCD-6122-BE7C-F2EDDD05BFB1}"/>
                    </a:ext>
                  </a:extLst>
                </p14:cNvPr>
                <p14:cNvContentPartPr/>
                <p14:nvPr/>
              </p14:nvContentPartPr>
              <p14:xfrm>
                <a:off x="5963680" y="2336560"/>
                <a:ext cx="1260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="" xmlns:a16="http://schemas.microsoft.com/office/drawing/2014/main" id="{6322F6AA-7FCD-6122-BE7C-F2EDDD05BF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00680" y="2273560"/>
                  <a:ext cx="138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14CB32-8706-45AE-5363-EB317BA08045}"/>
                    </a:ext>
                  </a:extLst>
                </p14:cNvPr>
                <p14:cNvContentPartPr/>
                <p14:nvPr/>
              </p14:nvContentPartPr>
              <p14:xfrm>
                <a:off x="5944600" y="2336560"/>
                <a:ext cx="5004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="" xmlns:a16="http://schemas.microsoft.com/office/drawing/2014/main" id="{0D14CB32-8706-45AE-5363-EB317BA080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81960" y="2273560"/>
                  <a:ext cx="17568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="" xmlns:a16="http://schemas.microsoft.com/office/drawing/2014/main" id="{1D337B1F-E51D-EC30-DFD7-760107BE419E}"/>
              </a:ext>
            </a:extLst>
          </p:cNvPr>
          <p:cNvGrpSpPr/>
          <p:nvPr/>
        </p:nvGrpSpPr>
        <p:grpSpPr>
          <a:xfrm>
            <a:off x="6128560" y="2312440"/>
            <a:ext cx="133560" cy="110520"/>
            <a:chOff x="6128560" y="2312440"/>
            <a:chExt cx="133560" cy="1105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E1D555-E1FA-D264-96F8-7CE5794888B1}"/>
                    </a:ext>
                  </a:extLst>
                </p14:cNvPr>
                <p14:cNvContentPartPr/>
                <p14:nvPr/>
              </p14:nvContentPartPr>
              <p14:xfrm>
                <a:off x="6156640" y="2369680"/>
                <a:ext cx="18720" cy="18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="" xmlns:a16="http://schemas.microsoft.com/office/drawing/2014/main" id="{6FE1D555-E1FA-D264-96F8-7CE5794888B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50520" y="2363560"/>
                  <a:ext cx="30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598EF3-032B-B150-5A46-9F00D63ECFB0}"/>
                    </a:ext>
                  </a:extLst>
                </p14:cNvPr>
                <p14:cNvContentPartPr/>
                <p14:nvPr/>
              </p14:nvContentPartPr>
              <p14:xfrm>
                <a:off x="6128560" y="2374360"/>
                <a:ext cx="59040" cy="26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="" xmlns:a16="http://schemas.microsoft.com/office/drawing/2014/main" id="{DA598EF3-032B-B150-5A46-9F00D63ECF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2440" y="2368240"/>
                  <a:ext cx="71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70BC7F-60CC-3C9D-6D1A-35CDDB1B5D21}"/>
                    </a:ext>
                  </a:extLst>
                </p14:cNvPr>
                <p14:cNvContentPartPr/>
                <p14:nvPr/>
              </p14:nvContentPartPr>
              <p14:xfrm>
                <a:off x="6136480" y="2407840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="" xmlns:a16="http://schemas.microsoft.com/office/drawing/2014/main" id="{8270BC7F-60CC-3C9D-6D1A-35CDDB1B5D2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30360" y="2401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B67BB3-904E-3348-0E80-8B00D892241C}"/>
                    </a:ext>
                  </a:extLst>
                </p14:cNvPr>
                <p14:cNvContentPartPr/>
                <p14:nvPr/>
              </p14:nvContentPartPr>
              <p14:xfrm>
                <a:off x="6156640" y="2407840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="" xmlns:a16="http://schemas.microsoft.com/office/drawing/2014/main" id="{91B67BB3-904E-3348-0E80-8B00D89224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50520" y="2401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A8BE25-DBD6-2AAF-5A0E-471448382411}"/>
                    </a:ext>
                  </a:extLst>
                </p14:cNvPr>
                <p14:cNvContentPartPr/>
                <p14:nvPr/>
              </p14:nvContentPartPr>
              <p14:xfrm>
                <a:off x="6156640" y="2407840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="" xmlns:a16="http://schemas.microsoft.com/office/drawing/2014/main" id="{93A8BE25-DBD6-2AAF-5A0E-4714483824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50520" y="2401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B15AE3-A2E1-0A97-CD60-C2F57DBC3958}"/>
                    </a:ext>
                  </a:extLst>
                </p14:cNvPr>
                <p14:cNvContentPartPr/>
                <p14:nvPr/>
              </p14:nvContentPartPr>
              <p14:xfrm>
                <a:off x="6156640" y="2312440"/>
                <a:ext cx="105480" cy="100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="" xmlns:a16="http://schemas.microsoft.com/office/drawing/2014/main" id="{ACB15AE3-A2E1-0A97-CD60-C2F57DBC39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50520" y="2306320"/>
                  <a:ext cx="117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4B7CC9-A383-8D50-625C-0919B3358213}"/>
                    </a:ext>
                  </a:extLst>
                </p14:cNvPr>
                <p14:cNvContentPartPr/>
                <p14:nvPr/>
              </p14:nvContentPartPr>
              <p14:xfrm>
                <a:off x="6155560" y="2375440"/>
                <a:ext cx="57240" cy="47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="" xmlns:a16="http://schemas.microsoft.com/office/drawing/2014/main" id="{274B7CC9-A383-8D50-625C-0919B33582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49440" y="2369320"/>
                  <a:ext cx="69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1B40B0-E39D-164F-4F26-2CB0284C912C}"/>
                    </a:ext>
                  </a:extLst>
                </p14:cNvPr>
                <p14:cNvContentPartPr/>
                <p14:nvPr/>
              </p14:nvContentPartPr>
              <p14:xfrm>
                <a:off x="6207400" y="2316400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="" xmlns:a16="http://schemas.microsoft.com/office/drawing/2014/main" id="{A81B40B0-E39D-164F-4F26-2CB0284C91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44760" y="22534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ED85F0B-749D-9944-60FB-0EB5DA41F6E8}"/>
                    </a:ext>
                  </a:extLst>
                </p14:cNvPr>
                <p14:cNvContentPartPr/>
                <p14:nvPr/>
              </p14:nvContentPartPr>
              <p14:xfrm>
                <a:off x="6207400" y="2316400"/>
                <a:ext cx="2160" cy="4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="" xmlns:a16="http://schemas.microsoft.com/office/drawing/2014/main" id="{0ED85F0B-749D-9944-60FB-0EB5DA41F6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44760" y="2253400"/>
                  <a:ext cx="12780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FE76C1B-CF0A-B95C-13C6-FFAC4B9D9A85}"/>
                  </a:ext>
                </a:extLst>
              </p14:cNvPr>
              <p14:cNvContentPartPr/>
              <p14:nvPr/>
            </p14:nvContentPartPr>
            <p14:xfrm>
              <a:off x="5973760" y="4023160"/>
              <a:ext cx="10800" cy="2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="" xmlns:a16="http://schemas.microsoft.com/office/drawing/2014/main" id="{9FE76C1B-CF0A-B95C-13C6-FFAC4B9D9A8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10760" y="3960520"/>
                <a:ext cx="13644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75DFBC6F-B366-B437-B3F5-FCA62AAAB720}"/>
              </a:ext>
            </a:extLst>
          </p:cNvPr>
          <p:cNvGrpSpPr/>
          <p:nvPr/>
        </p:nvGrpSpPr>
        <p:grpSpPr>
          <a:xfrm>
            <a:off x="6220000" y="4063840"/>
            <a:ext cx="18720" cy="22320"/>
            <a:chOff x="6220000" y="4063840"/>
            <a:chExt cx="18720" cy="223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062E583-612F-22F6-B50B-B131E1FB0735}"/>
                    </a:ext>
                  </a:extLst>
                </p14:cNvPr>
                <p14:cNvContentPartPr/>
                <p14:nvPr/>
              </p14:nvContentPartPr>
              <p14:xfrm>
                <a:off x="6238360" y="4063840"/>
                <a:ext cx="36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="" xmlns:a16="http://schemas.microsoft.com/office/drawing/2014/main" id="{F062E583-612F-22F6-B50B-B131E1FB073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75360" y="4001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FBCDB5-600D-E8E5-0D2A-B87B2756ACA5}"/>
                    </a:ext>
                  </a:extLst>
                </p14:cNvPr>
                <p14:cNvContentPartPr/>
                <p14:nvPr/>
              </p14:nvContentPartPr>
              <p14:xfrm>
                <a:off x="6231880" y="4063840"/>
                <a:ext cx="6480" cy="6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="" xmlns:a16="http://schemas.microsoft.com/office/drawing/2014/main" id="{CBFBCDB5-600D-E8E5-0D2A-B87B2756AC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69240" y="4001200"/>
                  <a:ext cx="132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A632F6-7283-502C-8BF5-E1C2E00FB974}"/>
                    </a:ext>
                  </a:extLst>
                </p14:cNvPr>
                <p14:cNvContentPartPr/>
                <p14:nvPr/>
              </p14:nvContentPartPr>
              <p14:xfrm>
                <a:off x="6220000" y="4084000"/>
                <a:ext cx="18720" cy="2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="" xmlns:a16="http://schemas.microsoft.com/office/drawing/2014/main" id="{C8A632F6-7283-502C-8BF5-E1C2E00FB97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57000" y="4021360"/>
                  <a:ext cx="14436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3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1657590-A7ED-2BCC-689D-04C47ED0AAF7}"/>
                  </a:ext>
                </a:extLst>
              </p14:cNvPr>
              <p14:cNvContentPartPr/>
              <p14:nvPr/>
            </p14:nvContentPartPr>
            <p14:xfrm>
              <a:off x="6740560" y="4967440"/>
              <a:ext cx="306720" cy="1162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="" xmlns:a16="http://schemas.microsoft.com/office/drawing/2014/main" id="{71657590-A7ED-2BCC-689D-04C47ED0AAF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31560" y="4958800"/>
                <a:ext cx="32436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A5032643-D3A1-3E72-8521-BBAAB1B39349}"/>
              </a:ext>
            </a:extLst>
          </p:cNvPr>
          <p:cNvGrpSpPr/>
          <p:nvPr/>
        </p:nvGrpSpPr>
        <p:grpSpPr>
          <a:xfrm>
            <a:off x="6756040" y="4968160"/>
            <a:ext cx="56160" cy="71280"/>
            <a:chOff x="6756040" y="4968160"/>
            <a:chExt cx="56160" cy="712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1B36E4-2689-BBDF-C8DB-FA664CF14AFE}"/>
                    </a:ext>
                  </a:extLst>
                </p14:cNvPr>
                <p14:cNvContentPartPr/>
                <p14:nvPr/>
              </p14:nvContentPartPr>
              <p14:xfrm>
                <a:off x="6756040" y="4968160"/>
                <a:ext cx="38160" cy="1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="" xmlns:a16="http://schemas.microsoft.com/office/drawing/2014/main" id="{B41B36E4-2689-BBDF-C8DB-FA664CF14AF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47400" y="4959520"/>
                  <a:ext cx="55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1277A9-7444-B947-128F-3B587639B538}"/>
                    </a:ext>
                  </a:extLst>
                </p14:cNvPr>
                <p14:cNvContentPartPr/>
                <p14:nvPr/>
              </p14:nvContentPartPr>
              <p14:xfrm>
                <a:off x="6780520" y="4988320"/>
                <a:ext cx="1692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="" xmlns:a16="http://schemas.microsoft.com/office/drawing/2014/main" id="{5D1277A9-7444-B947-128F-3B587639B5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71520" y="4979680"/>
                  <a:ext cx="34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511466-787D-35D1-4748-85E62371973D}"/>
                    </a:ext>
                  </a:extLst>
                </p14:cNvPr>
                <p14:cNvContentPartPr/>
                <p14:nvPr/>
              </p14:nvContentPartPr>
              <p14:xfrm>
                <a:off x="6776920" y="4998400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="" xmlns:a16="http://schemas.microsoft.com/office/drawing/2014/main" id="{4D511466-787D-35D1-4748-85E6237197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67920" y="49897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38D298-9BD0-81DC-8960-5F6F6BD3308B}"/>
                    </a:ext>
                  </a:extLst>
                </p14:cNvPr>
                <p14:cNvContentPartPr/>
                <p14:nvPr/>
              </p14:nvContentPartPr>
              <p14:xfrm>
                <a:off x="6756760" y="4978960"/>
                <a:ext cx="55440" cy="60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="" xmlns:a16="http://schemas.microsoft.com/office/drawing/2014/main" id="{6738D298-9BD0-81DC-8960-5F6F6BD3308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48120" y="4969960"/>
                  <a:ext cx="73080" cy="78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434" name="Picture 17433">
            <a:extLst>
              <a:ext uri="{FF2B5EF4-FFF2-40B4-BE49-F238E27FC236}">
                <a16:creationId xmlns="" xmlns:a16="http://schemas.microsoft.com/office/drawing/2014/main" id="{7FC3028A-80DF-8CF6-2074-576B981E4F1E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27728" y="1229664"/>
            <a:ext cx="6032554" cy="5583391"/>
          </a:xfrm>
          <a:prstGeom prst="rect">
            <a:avLst/>
          </a:prstGeom>
          <a:effectLst>
            <a:reflection stA="0" endPos="65000" dist="50800" dir="5400000" sy="-100000" algn="bl" rotWithShape="0"/>
          </a:effectLst>
        </p:spPr>
      </p:pic>
      <p:sp>
        <p:nvSpPr>
          <p:cNvPr id="17435" name="TextBox 17434">
            <a:extLst>
              <a:ext uri="{FF2B5EF4-FFF2-40B4-BE49-F238E27FC236}">
                <a16:creationId xmlns="" xmlns:a16="http://schemas.microsoft.com/office/drawing/2014/main" id="{16376B99-7935-9336-C378-070A15570556}"/>
              </a:ext>
            </a:extLst>
          </p:cNvPr>
          <p:cNvSpPr txBox="1"/>
          <p:nvPr/>
        </p:nvSpPr>
        <p:spPr>
          <a:xfrm>
            <a:off x="5900680" y="875264"/>
            <a:ext cx="3836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chemeClr val="tx2"/>
                </a:solidFill>
              </a:rPr>
              <a:t>Tech Stack and Implementation</a:t>
            </a:r>
            <a:r>
              <a:rPr lang="en-US" b="1" u="sng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7446" name="Rectangle: Rounded Corners 17445">
            <a:extLst>
              <a:ext uri="{FF2B5EF4-FFF2-40B4-BE49-F238E27FC236}">
                <a16:creationId xmlns="" xmlns:a16="http://schemas.microsoft.com/office/drawing/2014/main" id="{9AFDEF12-C3EE-68AD-B7AD-8A75151E9FFD}"/>
              </a:ext>
            </a:extLst>
          </p:cNvPr>
          <p:cNvSpPr/>
          <p:nvPr/>
        </p:nvSpPr>
        <p:spPr>
          <a:xfrm>
            <a:off x="526803" y="1657019"/>
            <a:ext cx="1769276" cy="11639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Web and mobile apps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Multilingual support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smtClean="0"/>
              <a:t>Dashboards</a:t>
            </a:r>
            <a:r>
              <a:rPr lang="en-US" sz="1100" b="1" dirty="0"/>
              <a:t>, graphs, feasibility </a:t>
            </a:r>
            <a:r>
              <a:rPr lang="en-US" sz="1100" b="1" dirty="0" smtClean="0"/>
              <a:t>reports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smtClean="0"/>
              <a:t>Historical report on groundwater levels</a:t>
            </a:r>
            <a:endParaRPr lang="en-US" sz="1100" dirty="0"/>
          </a:p>
        </p:txBody>
      </p:sp>
      <p:sp>
        <p:nvSpPr>
          <p:cNvPr id="17448" name="Rectangle: Rounded Corners 17447">
            <a:extLst>
              <a:ext uri="{FF2B5EF4-FFF2-40B4-BE49-F238E27FC236}">
                <a16:creationId xmlns="" xmlns:a16="http://schemas.microsoft.com/office/drawing/2014/main" id="{F34FAD19-F0DE-B49C-FEA3-BFFBC3BDA8F5}"/>
              </a:ext>
            </a:extLst>
          </p:cNvPr>
          <p:cNvSpPr/>
          <p:nvPr/>
        </p:nvSpPr>
        <p:spPr>
          <a:xfrm>
            <a:off x="2993488" y="5240132"/>
            <a:ext cx="1769276" cy="11639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Cloud Hosting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Scalable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Load </a:t>
            </a:r>
            <a:r>
              <a:rPr lang="en-US" sz="1200" b="1" dirty="0" smtClean="0"/>
              <a:t>Balancing</a:t>
            </a:r>
            <a:endParaRPr lang="en-US" sz="1200" b="1" dirty="0"/>
          </a:p>
        </p:txBody>
      </p:sp>
      <p:sp>
        <p:nvSpPr>
          <p:cNvPr id="17449" name="Rectangle: Rounded Corners 17448">
            <a:extLst>
              <a:ext uri="{FF2B5EF4-FFF2-40B4-BE49-F238E27FC236}">
                <a16:creationId xmlns="" xmlns:a16="http://schemas.microsoft.com/office/drawing/2014/main" id="{7359F589-B05B-9A15-DCCE-14D6BF226EC7}"/>
              </a:ext>
            </a:extLst>
          </p:cNvPr>
          <p:cNvSpPr/>
          <p:nvPr/>
        </p:nvSpPr>
        <p:spPr>
          <a:xfrm>
            <a:off x="2993486" y="3572955"/>
            <a:ext cx="1769276" cy="11639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Rainfall Data (IMD)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Groundwater Data (CGWB)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Policies, Subsidies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User Profiles &amp; Inputs</a:t>
            </a:r>
          </a:p>
        </p:txBody>
      </p:sp>
      <p:sp>
        <p:nvSpPr>
          <p:cNvPr id="17450" name="Rectangle: Rounded Corners 17449">
            <a:extLst>
              <a:ext uri="{FF2B5EF4-FFF2-40B4-BE49-F238E27FC236}">
                <a16:creationId xmlns="" xmlns:a16="http://schemas.microsoft.com/office/drawing/2014/main" id="{97EBD96A-1A28-D45C-C878-89EC0481DFB0}"/>
              </a:ext>
            </a:extLst>
          </p:cNvPr>
          <p:cNvSpPr/>
          <p:nvPr/>
        </p:nvSpPr>
        <p:spPr>
          <a:xfrm>
            <a:off x="2890942" y="1657019"/>
            <a:ext cx="1871820" cy="11639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Runoff &amp; Recharge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Feasibility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Cost–Benefit Estimation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smtClean="0"/>
              <a:t>Recommendations</a:t>
            </a:r>
            <a:endParaRPr lang="en-US" sz="1100" dirty="0"/>
          </a:p>
        </p:txBody>
      </p:sp>
      <p:sp>
        <p:nvSpPr>
          <p:cNvPr id="17451" name="Rectangle: Rounded Corners 17450">
            <a:extLst>
              <a:ext uri="{FF2B5EF4-FFF2-40B4-BE49-F238E27FC236}">
                <a16:creationId xmlns="" xmlns:a16="http://schemas.microsoft.com/office/drawing/2014/main" id="{C52CC139-1122-A622-8EBA-507E08C249E1}"/>
              </a:ext>
            </a:extLst>
          </p:cNvPr>
          <p:cNvSpPr/>
          <p:nvPr/>
        </p:nvSpPr>
        <p:spPr>
          <a:xfrm>
            <a:off x="518086" y="3572954"/>
            <a:ext cx="1769276" cy="11639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Authentication &amp; Privacy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Data Encryption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Access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Backup &amp; Recovery</a:t>
            </a:r>
            <a:endParaRPr lang="en-US" sz="1100" dirty="0"/>
          </a:p>
        </p:txBody>
      </p:sp>
      <p:sp>
        <p:nvSpPr>
          <p:cNvPr id="17452" name="Rectangle: Rounded Corners 17451">
            <a:extLst>
              <a:ext uri="{FF2B5EF4-FFF2-40B4-BE49-F238E27FC236}">
                <a16:creationId xmlns="" xmlns:a16="http://schemas.microsoft.com/office/drawing/2014/main" id="{6F5873C9-9563-D779-54D9-B90B16958534}"/>
              </a:ext>
            </a:extLst>
          </p:cNvPr>
          <p:cNvSpPr/>
          <p:nvPr/>
        </p:nvSpPr>
        <p:spPr>
          <a:xfrm>
            <a:off x="518085" y="5238544"/>
            <a:ext cx="1769276" cy="11639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Usage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Feedback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Reporting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Model Validation</a:t>
            </a:r>
            <a:endParaRPr lang="en-US" sz="1200" dirty="0"/>
          </a:p>
        </p:txBody>
      </p:sp>
      <p:sp>
        <p:nvSpPr>
          <p:cNvPr id="17453" name="TextBox 17452">
            <a:extLst>
              <a:ext uri="{FF2B5EF4-FFF2-40B4-BE49-F238E27FC236}">
                <a16:creationId xmlns="" xmlns:a16="http://schemas.microsoft.com/office/drawing/2014/main" id="{13DEFBA9-5B1F-BD28-3279-63F50A06CE79}"/>
              </a:ext>
            </a:extLst>
          </p:cNvPr>
          <p:cNvSpPr txBox="1"/>
          <p:nvPr/>
        </p:nvSpPr>
        <p:spPr>
          <a:xfrm>
            <a:off x="518086" y="1349242"/>
            <a:ext cx="3836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Presentation Layer</a:t>
            </a:r>
          </a:p>
        </p:txBody>
      </p:sp>
      <p:sp>
        <p:nvSpPr>
          <p:cNvPr id="17455" name="TextBox 17454">
            <a:extLst>
              <a:ext uri="{FF2B5EF4-FFF2-40B4-BE49-F238E27FC236}">
                <a16:creationId xmlns="" xmlns:a16="http://schemas.microsoft.com/office/drawing/2014/main" id="{E1A8AB9E-6620-965B-4F5E-6A0A1AEDBBBD}"/>
              </a:ext>
            </a:extLst>
          </p:cNvPr>
          <p:cNvSpPr txBox="1"/>
          <p:nvPr/>
        </p:nvSpPr>
        <p:spPr>
          <a:xfrm>
            <a:off x="642160" y="3265179"/>
            <a:ext cx="3836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Security Layer</a:t>
            </a:r>
          </a:p>
        </p:txBody>
      </p:sp>
      <p:sp>
        <p:nvSpPr>
          <p:cNvPr id="17457" name="TextBox 17456">
            <a:extLst>
              <a:ext uri="{FF2B5EF4-FFF2-40B4-BE49-F238E27FC236}">
                <a16:creationId xmlns="" xmlns:a16="http://schemas.microsoft.com/office/drawing/2014/main" id="{F6DBFE50-55A3-C609-D663-018CB99E8878}"/>
              </a:ext>
            </a:extLst>
          </p:cNvPr>
          <p:cNvSpPr txBox="1"/>
          <p:nvPr/>
        </p:nvSpPr>
        <p:spPr>
          <a:xfrm>
            <a:off x="2984924" y="4930767"/>
            <a:ext cx="3836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Infrastructure Layer</a:t>
            </a:r>
          </a:p>
        </p:txBody>
      </p:sp>
      <p:sp>
        <p:nvSpPr>
          <p:cNvPr id="17459" name="TextBox 17458">
            <a:extLst>
              <a:ext uri="{FF2B5EF4-FFF2-40B4-BE49-F238E27FC236}">
                <a16:creationId xmlns="" xmlns:a16="http://schemas.microsoft.com/office/drawing/2014/main" id="{D3E9AA11-3F8A-B4AA-1483-89528A49D9D7}"/>
              </a:ext>
            </a:extLst>
          </p:cNvPr>
          <p:cNvSpPr txBox="1"/>
          <p:nvPr/>
        </p:nvSpPr>
        <p:spPr>
          <a:xfrm>
            <a:off x="2890942" y="1349242"/>
            <a:ext cx="3836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Application Layer</a:t>
            </a:r>
          </a:p>
        </p:txBody>
      </p:sp>
      <p:cxnSp>
        <p:nvCxnSpPr>
          <p:cNvPr id="17465" name="Straight Arrow Connector 17464">
            <a:extLst>
              <a:ext uri="{FF2B5EF4-FFF2-40B4-BE49-F238E27FC236}">
                <a16:creationId xmlns="" xmlns:a16="http://schemas.microsoft.com/office/drawing/2014/main" id="{997B7E4A-DFB2-733D-D2C9-702949DEB420}"/>
              </a:ext>
            </a:extLst>
          </p:cNvPr>
          <p:cNvCxnSpPr>
            <a:cxnSpLocks/>
            <a:stCxn id="17446" idx="3"/>
            <a:endCxn id="17450" idx="1"/>
          </p:cNvCxnSpPr>
          <p:nvPr/>
        </p:nvCxnSpPr>
        <p:spPr>
          <a:xfrm>
            <a:off x="2296079" y="2239014"/>
            <a:ext cx="5948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8" name="Straight Arrow Connector 17467">
            <a:extLst>
              <a:ext uri="{FF2B5EF4-FFF2-40B4-BE49-F238E27FC236}">
                <a16:creationId xmlns="" xmlns:a16="http://schemas.microsoft.com/office/drawing/2014/main" id="{85335FE9-96E4-EC8B-03FB-2DC617AC09A0}"/>
              </a:ext>
            </a:extLst>
          </p:cNvPr>
          <p:cNvCxnSpPr>
            <a:cxnSpLocks/>
            <a:stCxn id="17451" idx="2"/>
            <a:endCxn id="17452" idx="0"/>
          </p:cNvCxnSpPr>
          <p:nvPr/>
        </p:nvCxnSpPr>
        <p:spPr>
          <a:xfrm rot="5400000">
            <a:off x="1151924" y="4987743"/>
            <a:ext cx="5016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9" name="Straight Arrow Connector 17468">
            <a:extLst>
              <a:ext uri="{FF2B5EF4-FFF2-40B4-BE49-F238E27FC236}">
                <a16:creationId xmlns="" xmlns:a16="http://schemas.microsoft.com/office/drawing/2014/main" id="{0480A0A4-0DD1-CD70-DAC7-5638D5D0E46B}"/>
              </a:ext>
            </a:extLst>
          </p:cNvPr>
          <p:cNvCxnSpPr>
            <a:cxnSpLocks/>
            <a:stCxn id="17449" idx="1"/>
            <a:endCxn id="17451" idx="3"/>
          </p:cNvCxnSpPr>
          <p:nvPr/>
        </p:nvCxnSpPr>
        <p:spPr>
          <a:xfrm rot="10800000">
            <a:off x="2287362" y="4154950"/>
            <a:ext cx="7061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0" name="Straight Arrow Connector 17469">
            <a:extLst>
              <a:ext uri="{FF2B5EF4-FFF2-40B4-BE49-F238E27FC236}">
                <a16:creationId xmlns="" xmlns:a16="http://schemas.microsoft.com/office/drawing/2014/main" id="{E096C11D-A484-D2D8-88B2-B4A5B56C77F6}"/>
              </a:ext>
            </a:extLst>
          </p:cNvPr>
          <p:cNvCxnSpPr>
            <a:cxnSpLocks/>
            <a:endCxn id="17449" idx="0"/>
          </p:cNvCxnSpPr>
          <p:nvPr/>
        </p:nvCxnSpPr>
        <p:spPr>
          <a:xfrm rot="5400000">
            <a:off x="3518327" y="3213157"/>
            <a:ext cx="7195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1" name="Straight Arrow Connector 17490">
            <a:extLst>
              <a:ext uri="{FF2B5EF4-FFF2-40B4-BE49-F238E27FC236}">
                <a16:creationId xmlns="" xmlns:a16="http://schemas.microsoft.com/office/drawing/2014/main" id="{A92D9E30-AFF8-D249-3362-BEACF895CC77}"/>
              </a:ext>
            </a:extLst>
          </p:cNvPr>
          <p:cNvCxnSpPr>
            <a:cxnSpLocks/>
            <a:stCxn id="17452" idx="3"/>
            <a:endCxn id="17448" idx="1"/>
          </p:cNvCxnSpPr>
          <p:nvPr/>
        </p:nvCxnSpPr>
        <p:spPr>
          <a:xfrm>
            <a:off x="2287361" y="5820539"/>
            <a:ext cx="706127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8" name="TextBox 17497">
            <a:extLst>
              <a:ext uri="{FF2B5EF4-FFF2-40B4-BE49-F238E27FC236}">
                <a16:creationId xmlns="" xmlns:a16="http://schemas.microsoft.com/office/drawing/2014/main" id="{E7F5F923-2014-0C69-6F72-A6111106F32A}"/>
              </a:ext>
            </a:extLst>
          </p:cNvPr>
          <p:cNvSpPr txBox="1"/>
          <p:nvPr/>
        </p:nvSpPr>
        <p:spPr>
          <a:xfrm>
            <a:off x="1088906" y="1010688"/>
            <a:ext cx="3836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/>
                </a:solidFill>
              </a:rPr>
              <a:t>Layered Flow Architecture: </a:t>
            </a:r>
          </a:p>
        </p:txBody>
      </p:sp>
      <p:sp>
        <p:nvSpPr>
          <p:cNvPr id="17456" name="TextBox 17455">
            <a:extLst>
              <a:ext uri="{FF2B5EF4-FFF2-40B4-BE49-F238E27FC236}">
                <a16:creationId xmlns="" xmlns:a16="http://schemas.microsoft.com/office/drawing/2014/main" id="{DEDB2F60-3E67-D4C2-24D7-92B041FC0954}"/>
              </a:ext>
            </a:extLst>
          </p:cNvPr>
          <p:cNvSpPr txBox="1"/>
          <p:nvPr/>
        </p:nvSpPr>
        <p:spPr>
          <a:xfrm>
            <a:off x="2941311" y="3265179"/>
            <a:ext cx="1375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Data Layer</a:t>
            </a:r>
          </a:p>
        </p:txBody>
      </p:sp>
      <p:sp>
        <p:nvSpPr>
          <p:cNvPr id="17458" name="TextBox 17457">
            <a:extLst>
              <a:ext uri="{FF2B5EF4-FFF2-40B4-BE49-F238E27FC236}">
                <a16:creationId xmlns="" xmlns:a16="http://schemas.microsoft.com/office/drawing/2014/main" id="{112CC110-B543-2E27-0EFB-BF3A7E4AED8F}"/>
              </a:ext>
            </a:extLst>
          </p:cNvPr>
          <p:cNvSpPr txBox="1"/>
          <p:nvPr/>
        </p:nvSpPr>
        <p:spPr>
          <a:xfrm>
            <a:off x="642160" y="4930767"/>
            <a:ext cx="3836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Monitoring Layer</a:t>
            </a:r>
          </a:p>
        </p:txBody>
      </p:sp>
      <p:sp>
        <p:nvSpPr>
          <p:cNvPr id="8194" name="AutoShape 2" descr="Fastapi Vector Logo - Download Free SVG Icon | Worldvector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Fastapi Vector Logo - Download Free SVG Icon | Worldvector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8" name="AutoShape 6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0" name="AutoShape 8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2" name="AutoShape 10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4" name="AutoShape 12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6" name="AutoShape 14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8" name="AutoShape 16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0" name="AutoShape 18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2" name="AutoShape 20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4" name="AutoShape 22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6" name="AutoShape 24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18" name="AutoShape 26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20" name="AutoShape 28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22" name="AutoShape 30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24" name="AutoShape 32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26" name="AutoShape 34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28" name="AutoShape 36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30" name="AutoShape 38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32" name="AutoShape 40" descr="Fastapi Vector Logo - Download Free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5" name="Group 114"/>
          <p:cNvGrpSpPr/>
          <p:nvPr/>
        </p:nvGrpSpPr>
        <p:grpSpPr>
          <a:xfrm>
            <a:off x="5066435" y="2783707"/>
            <a:ext cx="2206702" cy="2034129"/>
            <a:chOff x="5066435" y="3110287"/>
            <a:chExt cx="2206702" cy="2034129"/>
          </a:xfrm>
        </p:grpSpPr>
        <p:grpSp>
          <p:nvGrpSpPr>
            <p:cNvPr id="93" name="Group 92"/>
            <p:cNvGrpSpPr/>
            <p:nvPr/>
          </p:nvGrpSpPr>
          <p:grpSpPr>
            <a:xfrm>
              <a:off x="5066435" y="3110287"/>
              <a:ext cx="2206702" cy="1982433"/>
              <a:chOff x="6250042" y="2666546"/>
              <a:chExt cx="2206702" cy="1982433"/>
            </a:xfrm>
          </p:grpSpPr>
          <p:pic>
            <p:nvPicPr>
              <p:cNvPr id="17436" name="Picture 17435">
                <a:extLst>
                  <a:ext uri="{FF2B5EF4-FFF2-40B4-BE49-F238E27FC236}">
                    <a16:creationId xmlns="" xmlns:a16="http://schemas.microsoft.com/office/drawing/2014/main" id="{B36E4B53-ABC2-26BD-A7E4-E8D3CB430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6"/>
              <a:srcRect l="35606" t="34622" r="34975" b="26347"/>
              <a:stretch>
                <a:fillRect/>
              </a:stretch>
            </p:blipFill>
            <p:spPr>
              <a:xfrm>
                <a:off x="6374534" y="2757314"/>
                <a:ext cx="539488" cy="506105"/>
              </a:xfrm>
              <a:prstGeom prst="rect">
                <a:avLst/>
              </a:prstGeom>
            </p:spPr>
          </p:pic>
          <p:pic>
            <p:nvPicPr>
              <p:cNvPr id="17437" name="Picture 17436">
                <a:extLst>
                  <a:ext uri="{FF2B5EF4-FFF2-40B4-BE49-F238E27FC236}">
                    <a16:creationId xmlns="" xmlns:a16="http://schemas.microsoft.com/office/drawing/2014/main" id="{1F19AF73-CD16-5A04-2D4C-628667B8FB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/>
              <a:srcRect l="28576" r="22477" b="32900"/>
              <a:stretch>
                <a:fillRect/>
              </a:stretch>
            </p:blipFill>
            <p:spPr>
              <a:xfrm>
                <a:off x="7189415" y="3525579"/>
                <a:ext cx="627102" cy="450381"/>
              </a:xfrm>
              <a:prstGeom prst="rect">
                <a:avLst/>
              </a:prstGeom>
            </p:spPr>
          </p:pic>
          <p:pic>
            <p:nvPicPr>
              <p:cNvPr id="17438" name="Picture 17437">
                <a:extLst>
                  <a:ext uri="{FF2B5EF4-FFF2-40B4-BE49-F238E27FC236}">
                    <a16:creationId xmlns="" xmlns:a16="http://schemas.microsoft.com/office/drawing/2014/main" id="{BD1F10C5-3026-A4F5-5632-F1A1EBEB93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8"/>
              <a:srcRect l="33418" t="35776" r="51338" b="39393"/>
              <a:stretch>
                <a:fillRect/>
              </a:stretch>
            </p:blipFill>
            <p:spPr>
              <a:xfrm>
                <a:off x="7670044" y="2666546"/>
                <a:ext cx="786700" cy="669533"/>
              </a:xfrm>
              <a:prstGeom prst="rect">
                <a:avLst/>
              </a:prstGeom>
            </p:spPr>
          </p:pic>
          <p:pic>
            <p:nvPicPr>
              <p:cNvPr id="17439" name="Picture 17438">
                <a:extLst>
                  <a:ext uri="{FF2B5EF4-FFF2-40B4-BE49-F238E27FC236}">
                    <a16:creationId xmlns="" xmlns:a16="http://schemas.microsoft.com/office/drawing/2014/main" id="{34448598-19D6-4211-A0C8-805A358370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/>
              <a:srcRect l="6285" t="8629" r="6516" b="10922"/>
              <a:stretch>
                <a:fillRect/>
              </a:stretch>
            </p:blipFill>
            <p:spPr>
              <a:xfrm>
                <a:off x="6250042" y="4239909"/>
                <a:ext cx="761293" cy="409070"/>
              </a:xfrm>
              <a:prstGeom prst="rect">
                <a:avLst/>
              </a:prstGeom>
            </p:spPr>
          </p:pic>
          <p:pic>
            <p:nvPicPr>
              <p:cNvPr id="17440" name="Picture 17439">
                <a:extLst>
                  <a:ext uri="{FF2B5EF4-FFF2-40B4-BE49-F238E27FC236}">
                    <a16:creationId xmlns="" xmlns:a16="http://schemas.microsoft.com/office/drawing/2014/main" id="{0F7E9DF0-EF90-0936-7104-4AE6D66B00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/>
              <a:srcRect l="37007" t="18180" r="38105" b="36456"/>
              <a:stretch>
                <a:fillRect/>
              </a:stretch>
            </p:blipFill>
            <p:spPr>
              <a:xfrm>
                <a:off x="7852200" y="3407354"/>
                <a:ext cx="576481" cy="589668"/>
              </a:xfrm>
              <a:prstGeom prst="rect">
                <a:avLst/>
              </a:prstGeom>
            </p:spPr>
          </p:pic>
          <p:pic>
            <p:nvPicPr>
              <p:cNvPr id="17441" name="Picture 17440">
                <a:extLst>
                  <a:ext uri="{FF2B5EF4-FFF2-40B4-BE49-F238E27FC236}">
                    <a16:creationId xmlns="" xmlns:a16="http://schemas.microsoft.com/office/drawing/2014/main" id="{8296F7AE-B383-E028-3530-AA42FED5F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1"/>
              <a:srcRect l="9104" r="13022" b="19281"/>
              <a:stretch>
                <a:fillRect/>
              </a:stretch>
            </p:blipFill>
            <p:spPr>
              <a:xfrm>
                <a:off x="6972439" y="2757332"/>
                <a:ext cx="627102" cy="650022"/>
              </a:xfrm>
              <a:prstGeom prst="rect">
                <a:avLst/>
              </a:prstGeom>
            </p:spPr>
          </p:pic>
          <p:pic>
            <p:nvPicPr>
              <p:cNvPr id="17442" name="Picture 17441">
                <a:extLst>
                  <a:ext uri="{FF2B5EF4-FFF2-40B4-BE49-F238E27FC236}">
                    <a16:creationId xmlns="" xmlns:a16="http://schemas.microsoft.com/office/drawing/2014/main" id="{42C3D4FE-3B82-4DEC-A2F3-C48E0F7D7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/>
              <a:srcRect l="26145" t="3432" r="30078" b="26349"/>
              <a:stretch>
                <a:fillRect/>
              </a:stretch>
            </p:blipFill>
            <p:spPr>
              <a:xfrm>
                <a:off x="6273430" y="3385047"/>
                <a:ext cx="688871" cy="737552"/>
              </a:xfrm>
              <a:prstGeom prst="rect">
                <a:avLst/>
              </a:prstGeom>
            </p:spPr>
          </p:pic>
        </p:grpSp>
        <p:pic>
          <p:nvPicPr>
            <p:cNvPr id="8234" name="Picture 42" descr="Getting Started with Python FastAPI: A Comprehensive Guide"/>
            <p:cNvPicPr>
              <a:picLocks noChangeAspect="1" noChangeArrowheads="1"/>
            </p:cNvPicPr>
            <p:nvPr/>
          </p:nvPicPr>
          <p:blipFill>
            <a:blip r:embed="rId53"/>
            <a:srcRect l="27034" t="16004" r="26035" b="14038"/>
            <a:stretch>
              <a:fillRect/>
            </a:stretch>
          </p:blipFill>
          <p:spPr bwMode="auto">
            <a:xfrm>
              <a:off x="5972855" y="4608257"/>
              <a:ext cx="555866" cy="536159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="" xmlns:a16="http://schemas.microsoft.com/office/drawing/2014/main" id="{40E876FC-7FC9-470D-162F-B913518FF2A1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04798" y="122396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Infantry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="" xmlns:a16="http://schemas.microsoft.com/office/drawing/2014/main" id="{6112CC14-DBEC-1597-1DEF-466D08C00004}"/>
              </a:ext>
            </a:extLst>
          </p:cNvPr>
          <p:cNvSpPr/>
          <p:nvPr/>
        </p:nvSpPr>
        <p:spPr>
          <a:xfrm>
            <a:off x="304798" y="1474650"/>
            <a:ext cx="6969911" cy="7620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CCB6D1EE-958C-1EB6-6C4B-8D535F59DFC1}"/>
              </a:ext>
            </a:extLst>
          </p:cNvPr>
          <p:cNvSpPr txBox="1"/>
          <p:nvPr/>
        </p:nvSpPr>
        <p:spPr>
          <a:xfrm>
            <a:off x="347010" y="1052265"/>
            <a:ext cx="243135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Technical Feasibility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37A3C0FF-C109-65F8-8F74-1468FE095087}"/>
              </a:ext>
            </a:extLst>
          </p:cNvPr>
          <p:cNvSpPr txBox="1"/>
          <p:nvPr/>
        </p:nvSpPr>
        <p:spPr>
          <a:xfrm>
            <a:off x="282228" y="1441715"/>
            <a:ext cx="69699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India has 700+ million </a:t>
            </a:r>
            <a:r>
              <a:rPr lang="en-US" sz="1400" dirty="0" smtClean="0"/>
              <a:t>internet users→ </a:t>
            </a:r>
            <a:r>
              <a:rPr lang="en-US" sz="1400" b="1" dirty="0"/>
              <a:t>wide reach</a:t>
            </a:r>
            <a:r>
              <a:rPr lang="en-US" sz="1400" dirty="0"/>
              <a:t>.</a:t>
            </a:r>
          </a:p>
          <a:p>
            <a:r>
              <a:rPr lang="en-US" sz="1400" dirty="0" smtClean="0"/>
              <a:t>IMD’s rainfall </a:t>
            </a:r>
            <a:r>
              <a:rPr lang="en-US" sz="1400" dirty="0"/>
              <a:t>data (1901–2024) </a:t>
            </a:r>
            <a:r>
              <a:rPr lang="en-US" sz="1400" b="1" dirty="0"/>
              <a:t>enables precise, location-specific predictions</a:t>
            </a:r>
            <a:r>
              <a:rPr lang="en-US" sz="1400" dirty="0"/>
              <a:t>.</a:t>
            </a:r>
          </a:p>
          <a:p>
            <a:r>
              <a:rPr lang="en-US" sz="1400" dirty="0"/>
              <a:t>Groundwater &amp; GIS data already available via India-WRIS and CGWB → integration possible.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D68E60A6-6E3E-2899-A2DA-BD199F24F195}"/>
              </a:ext>
            </a:extLst>
          </p:cNvPr>
          <p:cNvSpPr txBox="1"/>
          <p:nvPr/>
        </p:nvSpPr>
        <p:spPr>
          <a:xfrm>
            <a:off x="347010" y="2383005"/>
            <a:ext cx="243135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Economic Feasibility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="" xmlns:a16="http://schemas.microsoft.com/office/drawing/2014/main" id="{32D4AAB8-6BD1-B199-652B-DABD67B7D642}"/>
              </a:ext>
            </a:extLst>
          </p:cNvPr>
          <p:cNvSpPr/>
          <p:nvPr/>
        </p:nvSpPr>
        <p:spPr>
          <a:xfrm>
            <a:off x="304798" y="2834432"/>
            <a:ext cx="7420305" cy="8309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361696EE-006A-0B26-5BCC-C9B89877C65E}"/>
              </a:ext>
            </a:extLst>
          </p:cNvPr>
          <p:cNvSpPr txBox="1"/>
          <p:nvPr/>
        </p:nvSpPr>
        <p:spPr>
          <a:xfrm>
            <a:off x="282227" y="2862836"/>
            <a:ext cx="6503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Water bill savings</a:t>
            </a:r>
            <a:r>
              <a:rPr lang="en-US" sz="1400" dirty="0"/>
              <a:t> and </a:t>
            </a:r>
            <a:r>
              <a:rPr lang="en-US" sz="1400" b="1" dirty="0"/>
              <a:t>drought protection</a:t>
            </a:r>
            <a:r>
              <a:rPr lang="en-US" sz="1400" dirty="0"/>
              <a:t> are proven benefits.</a:t>
            </a:r>
          </a:p>
          <a:p>
            <a:r>
              <a:rPr lang="en-US" sz="1400" dirty="0" smtClean="0"/>
              <a:t>Cities like </a:t>
            </a:r>
            <a:r>
              <a:rPr lang="en-US" sz="1400" dirty="0" err="1" smtClean="0"/>
              <a:t>Pune</a:t>
            </a:r>
            <a:r>
              <a:rPr lang="en-US" sz="1400" dirty="0" smtClean="0"/>
              <a:t> </a:t>
            </a:r>
            <a:r>
              <a:rPr lang="en-US" sz="1400" b="1" dirty="0" smtClean="0"/>
              <a:t>offered</a:t>
            </a:r>
            <a:r>
              <a:rPr lang="en-US" sz="1400" dirty="0" smtClean="0"/>
              <a:t> </a:t>
            </a:r>
            <a:r>
              <a:rPr lang="en-US" sz="1400" b="1" dirty="0" smtClean="0"/>
              <a:t>tax rebates, boosting adoption </a:t>
            </a:r>
            <a:r>
              <a:rPr lang="en-US" sz="1400" dirty="0" smtClean="0"/>
              <a:t>→ replicable nationwide.</a:t>
            </a:r>
            <a:endParaRPr lang="en-US" sz="1400" dirty="0"/>
          </a:p>
          <a:p>
            <a:r>
              <a:rPr lang="en-US" sz="1400" b="1" dirty="0"/>
              <a:t>Lower-cost structures </a:t>
            </a:r>
            <a:r>
              <a:rPr lang="en-US" sz="1400" dirty="0"/>
              <a:t>and </a:t>
            </a:r>
            <a:r>
              <a:rPr lang="en-US" sz="1400" b="1" dirty="0"/>
              <a:t>government schemes </a:t>
            </a:r>
            <a:r>
              <a:rPr lang="en-US" sz="1400" dirty="0"/>
              <a:t>make RWH economically attractive</a:t>
            </a:r>
          </a:p>
          <a:p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F103741C-5976-8039-8471-084262465FA7}"/>
              </a:ext>
            </a:extLst>
          </p:cNvPr>
          <p:cNvSpPr txBox="1"/>
          <p:nvPr/>
        </p:nvSpPr>
        <p:spPr>
          <a:xfrm>
            <a:off x="347009" y="3768331"/>
            <a:ext cx="2774563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Environmental Feasibility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="" xmlns:a16="http://schemas.microsoft.com/office/drawing/2014/main" id="{D8E2C204-774A-AC5C-6087-9CDCAF7A2548}"/>
              </a:ext>
            </a:extLst>
          </p:cNvPr>
          <p:cNvSpPr/>
          <p:nvPr/>
        </p:nvSpPr>
        <p:spPr>
          <a:xfrm>
            <a:off x="304798" y="4193945"/>
            <a:ext cx="7441248" cy="7620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875E5A9-BD60-020D-1734-26A367B36118}"/>
              </a:ext>
            </a:extLst>
          </p:cNvPr>
          <p:cNvSpPr txBox="1"/>
          <p:nvPr/>
        </p:nvSpPr>
        <p:spPr>
          <a:xfrm>
            <a:off x="282228" y="4201615"/>
            <a:ext cx="7442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RWH recharges aquifers</a:t>
            </a:r>
            <a:r>
              <a:rPr lang="en-US" sz="1400" dirty="0"/>
              <a:t>, reducing groundwater depletion.</a:t>
            </a:r>
          </a:p>
          <a:p>
            <a:r>
              <a:rPr lang="en-US" sz="1400" dirty="0"/>
              <a:t>Helps </a:t>
            </a:r>
            <a:r>
              <a:rPr lang="en-US" sz="1400" dirty="0" smtClean="0"/>
              <a:t>preventing </a:t>
            </a:r>
            <a:r>
              <a:rPr lang="en-US" sz="1400" dirty="0"/>
              <a:t>floods and contamination.</a:t>
            </a:r>
          </a:p>
          <a:p>
            <a:r>
              <a:rPr lang="en-US" sz="1400" b="1" dirty="0"/>
              <a:t>Effective</a:t>
            </a:r>
            <a:r>
              <a:rPr lang="en-US" sz="1400" dirty="0"/>
              <a:t> across regions with </a:t>
            </a:r>
            <a:r>
              <a:rPr lang="en-US" sz="1400" b="1" dirty="0"/>
              <a:t>moderate to high </a:t>
            </a:r>
            <a:r>
              <a:rPr lang="en-US" sz="1400" b="1" dirty="0" smtClean="0"/>
              <a:t>rainfall</a:t>
            </a:r>
            <a:endParaRPr lang="en-US" sz="1400" dirty="0"/>
          </a:p>
          <a:p>
            <a:r>
              <a:rPr lang="en-US" sz="1400" dirty="0"/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04BDAB4C-407F-BC2F-3E56-B6089A868579}"/>
              </a:ext>
            </a:extLst>
          </p:cNvPr>
          <p:cNvSpPr txBox="1"/>
          <p:nvPr/>
        </p:nvSpPr>
        <p:spPr>
          <a:xfrm>
            <a:off x="331153" y="5123697"/>
            <a:ext cx="2034578" cy="43088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/>
                </a:solidFill>
              </a:rPr>
              <a:t>Potential Risks: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="" xmlns:a16="http://schemas.microsoft.com/office/drawing/2014/main" id="{A23C098D-5258-1D5C-7940-9599197C086C}"/>
              </a:ext>
            </a:extLst>
          </p:cNvPr>
          <p:cNvSpPr/>
          <p:nvPr/>
        </p:nvSpPr>
        <p:spPr>
          <a:xfrm>
            <a:off x="440054" y="5799558"/>
            <a:ext cx="1066361" cy="672487"/>
          </a:xfrm>
          <a:prstGeom prst="rightArrow">
            <a:avLst/>
          </a:prstGeom>
          <a:solidFill>
            <a:srgbClr val="9BBB59"/>
          </a:solidFill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Hexagon 37">
            <a:extLst>
              <a:ext uri="{FF2B5EF4-FFF2-40B4-BE49-F238E27FC236}">
                <a16:creationId xmlns="" xmlns:a16="http://schemas.microsoft.com/office/drawing/2014/main" id="{7FAB99EE-10B1-C61E-FA80-8D2C86C30780}"/>
              </a:ext>
            </a:extLst>
          </p:cNvPr>
          <p:cNvSpPr/>
          <p:nvPr/>
        </p:nvSpPr>
        <p:spPr>
          <a:xfrm>
            <a:off x="1675054" y="5740646"/>
            <a:ext cx="1356661" cy="1046483"/>
          </a:xfrm>
          <a:prstGeom prst="hexagon">
            <a:avLst/>
          </a:prstGeom>
          <a:solidFill>
            <a:srgbClr val="FF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Hexagon 38">
            <a:extLst>
              <a:ext uri="{FF2B5EF4-FFF2-40B4-BE49-F238E27FC236}">
                <a16:creationId xmlns="" xmlns:a16="http://schemas.microsoft.com/office/drawing/2014/main" id="{1B77F8B5-28DA-C1F9-0E5B-C0C5A9F3907E}"/>
              </a:ext>
            </a:extLst>
          </p:cNvPr>
          <p:cNvSpPr/>
          <p:nvPr/>
        </p:nvSpPr>
        <p:spPr>
          <a:xfrm>
            <a:off x="2983231" y="5176620"/>
            <a:ext cx="1356661" cy="1046483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Hexagon 39">
            <a:extLst>
              <a:ext uri="{FF2B5EF4-FFF2-40B4-BE49-F238E27FC236}">
                <a16:creationId xmlns="" xmlns:a16="http://schemas.microsoft.com/office/drawing/2014/main" id="{3B83BC33-C236-4B9D-8600-52012DF6FAF8}"/>
              </a:ext>
            </a:extLst>
          </p:cNvPr>
          <p:cNvSpPr/>
          <p:nvPr/>
        </p:nvSpPr>
        <p:spPr>
          <a:xfrm>
            <a:off x="4194178" y="5740647"/>
            <a:ext cx="1356661" cy="1046483"/>
          </a:xfrm>
          <a:prstGeom prst="hexagon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Hexagon 40">
            <a:extLst>
              <a:ext uri="{FF2B5EF4-FFF2-40B4-BE49-F238E27FC236}">
                <a16:creationId xmlns="" xmlns:a16="http://schemas.microsoft.com/office/drawing/2014/main" id="{A34DF9E0-7897-C25B-ABB7-324D286D4324}"/>
              </a:ext>
            </a:extLst>
          </p:cNvPr>
          <p:cNvSpPr/>
          <p:nvPr/>
        </p:nvSpPr>
        <p:spPr>
          <a:xfrm>
            <a:off x="5429178" y="5180434"/>
            <a:ext cx="1356661" cy="1046483"/>
          </a:xfrm>
          <a:prstGeom prst="hexag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Hexagon 44">
            <a:extLst>
              <a:ext uri="{FF2B5EF4-FFF2-40B4-BE49-F238E27FC236}">
                <a16:creationId xmlns="" xmlns:a16="http://schemas.microsoft.com/office/drawing/2014/main" id="{1C0A23A8-9CC9-60B7-1AB8-6609E203F682}"/>
              </a:ext>
            </a:extLst>
          </p:cNvPr>
          <p:cNvSpPr/>
          <p:nvPr/>
        </p:nvSpPr>
        <p:spPr>
          <a:xfrm>
            <a:off x="6700155" y="5746622"/>
            <a:ext cx="1356661" cy="104648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4BACFE5F-DA49-611C-AD73-0E961E8B26CE}"/>
              </a:ext>
            </a:extLst>
          </p:cNvPr>
          <p:cNvSpPr txBox="1"/>
          <p:nvPr/>
        </p:nvSpPr>
        <p:spPr>
          <a:xfrm>
            <a:off x="1657646" y="5851392"/>
            <a:ext cx="1352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Rainfall variability &amp; data gaps</a:t>
            </a:r>
            <a:endParaRPr 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B56605ED-0589-19F3-7B5D-21C65157D728}"/>
              </a:ext>
            </a:extLst>
          </p:cNvPr>
          <p:cNvSpPr txBox="1"/>
          <p:nvPr/>
        </p:nvSpPr>
        <p:spPr>
          <a:xfrm>
            <a:off x="2993933" y="5321982"/>
            <a:ext cx="135210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 smtClean="0"/>
              <a:t>Connectivity</a:t>
            </a:r>
          </a:p>
          <a:p>
            <a:pPr algn="ctr"/>
            <a:r>
              <a:rPr lang="en-US" sz="1500" b="1" dirty="0" smtClean="0"/>
              <a:t> </a:t>
            </a:r>
            <a:r>
              <a:rPr lang="en-US" sz="1500" b="1" dirty="0"/>
              <a:t>&amp; literacy barriers</a:t>
            </a:r>
            <a:endParaRPr lang="en-US" sz="1500" dirty="0"/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325E5F9D-9D62-055B-AB92-B9DDF6E15C23}"/>
              </a:ext>
            </a:extLst>
          </p:cNvPr>
          <p:cNvSpPr txBox="1"/>
          <p:nvPr/>
        </p:nvSpPr>
        <p:spPr>
          <a:xfrm>
            <a:off x="4290722" y="5825136"/>
            <a:ext cx="1189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High upfront investment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88EEC217-6B27-1D3F-998E-58B7F3C2B428}"/>
              </a:ext>
            </a:extLst>
          </p:cNvPr>
          <p:cNvSpPr txBox="1"/>
          <p:nvPr/>
        </p:nvSpPr>
        <p:spPr>
          <a:xfrm>
            <a:off x="6730224" y="5853766"/>
            <a:ext cx="1352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Trust issues </a:t>
            </a:r>
            <a:endParaRPr lang="en-US" sz="1600" b="1" dirty="0" smtClean="0"/>
          </a:p>
          <a:p>
            <a:pPr algn="ctr"/>
            <a:r>
              <a:rPr lang="en-US" sz="1600" b="1" dirty="0" smtClean="0"/>
              <a:t>&amp; </a:t>
            </a:r>
            <a:r>
              <a:rPr lang="en-US" sz="1600" b="1" dirty="0"/>
              <a:t>social resistance</a:t>
            </a:r>
            <a:endParaRPr lang="en-US" sz="1600" dirty="0"/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F5E058FC-5DB8-A0A0-35E8-EF0F971D8CEC}"/>
              </a:ext>
            </a:extLst>
          </p:cNvPr>
          <p:cNvSpPr txBox="1"/>
          <p:nvPr/>
        </p:nvSpPr>
        <p:spPr>
          <a:xfrm>
            <a:off x="5440064" y="5437558"/>
            <a:ext cx="1352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Maintenance challenges</a:t>
            </a:r>
            <a:endParaRPr lang="en-US" sz="160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="" xmlns:a16="http://schemas.microsoft.com/office/drawing/2014/main" id="{F5BEE242-F5AF-B27D-7035-2D33AD67DD14}"/>
              </a:ext>
            </a:extLst>
          </p:cNvPr>
          <p:cNvSpPr/>
          <p:nvPr/>
        </p:nvSpPr>
        <p:spPr>
          <a:xfrm>
            <a:off x="8152337" y="4318834"/>
            <a:ext cx="3513132" cy="541614"/>
          </a:xfrm>
          <a:prstGeom prst="round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Strategies to Overcome Problems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="" xmlns:a16="http://schemas.microsoft.com/office/drawing/2014/main" id="{DA68AC8E-3B38-3F3D-0E93-F2CB66054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199" y="1406197"/>
            <a:ext cx="4006575" cy="257797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1BDF8A1C-3A00-1003-AE2A-EA6EEC659DD0}"/>
              </a:ext>
            </a:extLst>
          </p:cNvPr>
          <p:cNvSpPr txBox="1"/>
          <p:nvPr/>
        </p:nvSpPr>
        <p:spPr>
          <a:xfrm>
            <a:off x="8220050" y="4958422"/>
            <a:ext cx="39082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U</a:t>
            </a:r>
            <a:r>
              <a:rPr lang="en-US" sz="1400" b="1" dirty="0" smtClean="0"/>
              <a:t>se </a:t>
            </a:r>
            <a:r>
              <a:rPr lang="en-US" sz="1400" b="1" dirty="0"/>
              <a:t>detailed historical data and alerts.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 smtClean="0"/>
              <a:t>H</a:t>
            </a:r>
            <a:r>
              <a:rPr lang="en-US" sz="1400" b="1" dirty="0" smtClean="0"/>
              <a:t>ighlight </a:t>
            </a:r>
            <a:r>
              <a:rPr lang="en-US" sz="1400" b="1" dirty="0"/>
              <a:t>savings, tax benefits, and financing options.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A</a:t>
            </a:r>
            <a:r>
              <a:rPr lang="en-US" sz="1400" b="1" dirty="0" smtClean="0"/>
              <a:t>utomated </a:t>
            </a:r>
            <a:r>
              <a:rPr lang="en-US" sz="1400" b="1" dirty="0"/>
              <a:t>reminders, easy-to-follow guides, and professional links can help.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E</a:t>
            </a:r>
            <a:r>
              <a:rPr lang="en-US" sz="1400" b="1" dirty="0" smtClean="0"/>
              <a:t>ducation </a:t>
            </a:r>
            <a:r>
              <a:rPr lang="en-US" sz="1400" b="1" dirty="0"/>
              <a:t>modules, FAQs, and community success stories build confidence.</a:t>
            </a:r>
            <a:endParaRPr lang="en-US" sz="1400" dirty="0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2A1FBFE4-98E6-D411-0C82-47012B9037C9}"/>
              </a:ext>
            </a:extLst>
          </p:cNvPr>
          <p:cNvSpPr/>
          <p:nvPr/>
        </p:nvSpPr>
        <p:spPr>
          <a:xfrm>
            <a:off x="8187906" y="4890577"/>
            <a:ext cx="3862580" cy="1776442"/>
          </a:xfrm>
          <a:prstGeom prst="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49356" y="-1452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="" xmlns:a16="http://schemas.microsoft.com/office/drawing/2014/main" id="{5FD623DC-EA4E-7FAF-09D8-B0A33683B777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447883" y="118984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Infantry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DC11CEF0-2F0B-939C-F3B4-83E0152308B9}"/>
              </a:ext>
            </a:extLst>
          </p:cNvPr>
          <p:cNvSpPr txBox="1"/>
          <p:nvPr/>
        </p:nvSpPr>
        <p:spPr>
          <a:xfrm>
            <a:off x="3439927" y="2221912"/>
            <a:ext cx="7291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promoting rooftop rainwater harvesting and artificial recharge structures, the solution directly supports large-scale groundwater replenishment.</a:t>
            </a:r>
          </a:p>
        </p:txBody>
      </p:sp>
      <p:sp>
        <p:nvSpPr>
          <p:cNvPr id="20" name="Arrow: Pentagon 19">
            <a:extLst>
              <a:ext uri="{FF2B5EF4-FFF2-40B4-BE49-F238E27FC236}">
                <a16:creationId xmlns="" xmlns:a16="http://schemas.microsoft.com/office/drawing/2014/main" id="{FE21DB4C-6896-E878-FD89-643235780ED9}"/>
              </a:ext>
            </a:extLst>
          </p:cNvPr>
          <p:cNvSpPr/>
          <p:nvPr/>
        </p:nvSpPr>
        <p:spPr>
          <a:xfrm>
            <a:off x="596172" y="1261984"/>
            <a:ext cx="2563819" cy="636053"/>
          </a:xfrm>
          <a:prstGeom prst="homePlat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Pentagon 21">
            <a:extLst>
              <a:ext uri="{FF2B5EF4-FFF2-40B4-BE49-F238E27FC236}">
                <a16:creationId xmlns="" xmlns:a16="http://schemas.microsoft.com/office/drawing/2014/main" id="{F15CE7C6-15FD-05C5-BD7A-1A611D225230}"/>
              </a:ext>
            </a:extLst>
          </p:cNvPr>
          <p:cNvSpPr/>
          <p:nvPr/>
        </p:nvSpPr>
        <p:spPr>
          <a:xfrm>
            <a:off x="609600" y="2214886"/>
            <a:ext cx="2563819" cy="636053"/>
          </a:xfrm>
          <a:prstGeom prst="homePlat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Pentagon 27">
            <a:extLst>
              <a:ext uri="{FF2B5EF4-FFF2-40B4-BE49-F238E27FC236}">
                <a16:creationId xmlns="" xmlns:a16="http://schemas.microsoft.com/office/drawing/2014/main" id="{DE50C0E6-B22F-34DD-AC69-B0976C1B01EA}"/>
              </a:ext>
            </a:extLst>
          </p:cNvPr>
          <p:cNvSpPr/>
          <p:nvPr/>
        </p:nvSpPr>
        <p:spPr>
          <a:xfrm>
            <a:off x="596173" y="3122214"/>
            <a:ext cx="2563819" cy="636053"/>
          </a:xfrm>
          <a:prstGeom prst="homePlate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Pentagon 28">
            <a:extLst>
              <a:ext uri="{FF2B5EF4-FFF2-40B4-BE49-F238E27FC236}">
                <a16:creationId xmlns="" xmlns:a16="http://schemas.microsoft.com/office/drawing/2014/main" id="{385D9FD8-69D7-D6BA-557A-1B886C121152}"/>
              </a:ext>
            </a:extLst>
          </p:cNvPr>
          <p:cNvSpPr/>
          <p:nvPr/>
        </p:nvSpPr>
        <p:spPr>
          <a:xfrm>
            <a:off x="609600" y="4068559"/>
            <a:ext cx="2563819" cy="636053"/>
          </a:xfrm>
          <a:prstGeom prst="homePlat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Pentagon 29">
            <a:extLst>
              <a:ext uri="{FF2B5EF4-FFF2-40B4-BE49-F238E27FC236}">
                <a16:creationId xmlns="" xmlns:a16="http://schemas.microsoft.com/office/drawing/2014/main" id="{4D448B79-9CFF-0115-678D-1E4DF90FF472}"/>
              </a:ext>
            </a:extLst>
          </p:cNvPr>
          <p:cNvSpPr/>
          <p:nvPr/>
        </p:nvSpPr>
        <p:spPr>
          <a:xfrm>
            <a:off x="634839" y="4985338"/>
            <a:ext cx="2563819" cy="636053"/>
          </a:xfrm>
          <a:prstGeom prst="homePlat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Pentagon 30">
            <a:extLst>
              <a:ext uri="{FF2B5EF4-FFF2-40B4-BE49-F238E27FC236}">
                <a16:creationId xmlns="" xmlns:a16="http://schemas.microsoft.com/office/drawing/2014/main" id="{7CB79177-9732-3220-BBCC-94FB18AC5AFE}"/>
              </a:ext>
            </a:extLst>
          </p:cNvPr>
          <p:cNvSpPr/>
          <p:nvPr/>
        </p:nvSpPr>
        <p:spPr>
          <a:xfrm>
            <a:off x="634838" y="5922232"/>
            <a:ext cx="2563819" cy="667984"/>
          </a:xfrm>
          <a:prstGeom prst="homePlate">
            <a:avLst/>
          </a:prstGeom>
          <a:solidFill>
            <a:srgbClr val="18EEE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9958D327-E046-C11A-E172-73FA04C6CE30}"/>
              </a:ext>
            </a:extLst>
          </p:cNvPr>
          <p:cNvSpPr txBox="1"/>
          <p:nvPr/>
        </p:nvSpPr>
        <p:spPr>
          <a:xfrm>
            <a:off x="906001" y="2169312"/>
            <a:ext cx="2209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Groundwater Replenishment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FA638396-4D83-A435-E38B-13A9274E4947}"/>
              </a:ext>
            </a:extLst>
          </p:cNvPr>
          <p:cNvSpPr txBox="1"/>
          <p:nvPr/>
        </p:nvSpPr>
        <p:spPr>
          <a:xfrm>
            <a:off x="596172" y="3235833"/>
            <a:ext cx="3594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Citizen Empowerment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2121896F-F4EA-324D-5D82-8794DE2F94C7}"/>
              </a:ext>
            </a:extLst>
          </p:cNvPr>
          <p:cNvSpPr txBox="1"/>
          <p:nvPr/>
        </p:nvSpPr>
        <p:spPr>
          <a:xfrm>
            <a:off x="741795" y="5922232"/>
            <a:ext cx="2299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Public Awareness &amp; Participation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3C9EF14D-80CA-3B19-2E52-3FC53F0F119A}"/>
              </a:ext>
            </a:extLst>
          </p:cNvPr>
          <p:cNvSpPr txBox="1"/>
          <p:nvPr/>
        </p:nvSpPr>
        <p:spPr>
          <a:xfrm>
            <a:off x="767033" y="5093060"/>
            <a:ext cx="2299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Cost Savings &amp; ROI</a:t>
            </a:r>
            <a:br>
              <a:rPr lang="en-US" sz="2000" b="1" dirty="0"/>
            </a:br>
            <a:endParaRPr lang="en-US" sz="2000" b="1" dirty="0"/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8B541245-580C-A903-82A1-7EF25880C8F8}"/>
              </a:ext>
            </a:extLst>
          </p:cNvPr>
          <p:cNvSpPr txBox="1"/>
          <p:nvPr/>
        </p:nvSpPr>
        <p:spPr>
          <a:xfrm>
            <a:off x="873991" y="4176473"/>
            <a:ext cx="2299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Water Security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B5CA459A-A795-265E-C76A-56BBA2106627}"/>
              </a:ext>
            </a:extLst>
          </p:cNvPr>
          <p:cNvSpPr txBox="1"/>
          <p:nvPr/>
        </p:nvSpPr>
        <p:spPr>
          <a:xfrm>
            <a:off x="815693" y="1231677"/>
            <a:ext cx="2299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Sustainable India Vision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E5D3E263-071B-C44B-AFCB-3A3819963BB9}"/>
              </a:ext>
            </a:extLst>
          </p:cNvPr>
          <p:cNvSpPr txBox="1"/>
          <p:nvPr/>
        </p:nvSpPr>
        <p:spPr>
          <a:xfrm>
            <a:off x="3448206" y="3122214"/>
            <a:ext cx="7291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application will empower individuals and communities to take informed decisions about groundwater conservation and rainwater harvesting.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14A9B492-D486-E5A5-0106-70E7A50351DE}"/>
              </a:ext>
            </a:extLst>
          </p:cNvPr>
          <p:cNvSpPr txBox="1"/>
          <p:nvPr/>
        </p:nvSpPr>
        <p:spPr>
          <a:xfrm>
            <a:off x="3495432" y="5943885"/>
            <a:ext cx="7291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will enhance public awareness, encourage participation, and support sustainable water management efforts.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DB6D060B-1D3D-1AE2-0E93-734370488CDB}"/>
              </a:ext>
            </a:extLst>
          </p:cNvPr>
          <p:cNvSpPr txBox="1"/>
          <p:nvPr/>
        </p:nvSpPr>
        <p:spPr>
          <a:xfrm>
            <a:off x="3510229" y="5059985"/>
            <a:ext cx="7291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features like cost estimation and cost-benefit analysis, the tool enables users to plan financially viable systems, maximizing return on investment.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16EB1B1C-6A9E-4C25-4120-184AB87DA900}"/>
              </a:ext>
            </a:extLst>
          </p:cNvPr>
          <p:cNvSpPr txBox="1"/>
          <p:nvPr/>
        </p:nvSpPr>
        <p:spPr>
          <a:xfrm>
            <a:off x="3483375" y="3914935"/>
            <a:ext cx="7291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utilizing local rainfall data and recommending suitable recharge structures, the solution enhances long-term water security for individuals and communities.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17440B3C-6AB9-2C76-891D-9F17AEBD2680}"/>
              </a:ext>
            </a:extLst>
          </p:cNvPr>
          <p:cNvSpPr txBox="1"/>
          <p:nvPr/>
        </p:nvSpPr>
        <p:spPr>
          <a:xfrm>
            <a:off x="3426404" y="1124934"/>
            <a:ext cx="7291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Through inclusive design, regional language support, and scientifically guided practices, the application contributes to the national goal of a water-resilient and sustainable India.</a:t>
            </a:r>
          </a:p>
        </p:txBody>
      </p:sp>
    </p:spTree>
    <p:extLst>
      <p:ext uri="{BB962C8B-B14F-4D97-AF65-F5344CB8AC3E}">
        <p14:creationId xmlns=""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6487886"/>
            <a:ext cx="12192000" cy="370114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4000" y="647609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="" xmlns:a16="http://schemas.microsoft.com/office/drawing/2014/main" id="{E25B5648-C917-1F18-3D1B-1FB1D363BA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290444" y="120208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  <a:p>
            <a:pPr algn="ctr"/>
            <a:r>
              <a:rPr lang="en-US" dirty="0"/>
              <a:t>Infantry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067D31C-3CEB-8374-B8FD-C5E794221759}"/>
              </a:ext>
            </a:extLst>
          </p:cNvPr>
          <p:cNvSpPr txBox="1"/>
          <p:nvPr/>
        </p:nvSpPr>
        <p:spPr>
          <a:xfrm>
            <a:off x="622847" y="1040883"/>
            <a:ext cx="5040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List of References: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CFD570A-2780-51BB-66ED-4D6B1E6855AB}"/>
              </a:ext>
            </a:extLst>
          </p:cNvPr>
          <p:cNvSpPr txBox="1"/>
          <p:nvPr/>
        </p:nvSpPr>
        <p:spPr>
          <a:xfrm>
            <a:off x="599405" y="1679303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4"/>
              </a:rPr>
              <a:t>Formulas Required for Analysis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2DD83FD-B9F9-7DD7-66B6-2E4DBF2E6F2B}"/>
              </a:ext>
            </a:extLst>
          </p:cNvPr>
          <p:cNvSpPr txBox="1"/>
          <p:nvPr/>
        </p:nvSpPr>
        <p:spPr>
          <a:xfrm>
            <a:off x="609600" y="2670748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5"/>
              </a:rPr>
              <a:t>Rainfall Data (IMD)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A904B43-CDB2-61A3-AFAF-98CDF5ECC8A8}"/>
              </a:ext>
            </a:extLst>
          </p:cNvPr>
          <p:cNvSpPr txBox="1"/>
          <p:nvPr/>
        </p:nvSpPr>
        <p:spPr>
          <a:xfrm>
            <a:off x="599402" y="5549230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6"/>
              </a:rPr>
              <a:t>Groundwater Resources (</a:t>
            </a:r>
            <a:r>
              <a:rPr lang="en-US" b="1" dirty="0" err="1">
                <a:hlinkClick r:id="rId6"/>
              </a:rPr>
              <a:t>MoSPI</a:t>
            </a:r>
            <a:r>
              <a:rPr lang="en-US" b="1" dirty="0">
                <a:hlinkClick r:id="rId6"/>
              </a:rPr>
              <a:t>)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C3368B8-67BD-3B12-E6A5-0ED6369DCF99}"/>
              </a:ext>
            </a:extLst>
          </p:cNvPr>
          <p:cNvSpPr txBox="1"/>
          <p:nvPr/>
        </p:nvSpPr>
        <p:spPr>
          <a:xfrm>
            <a:off x="599404" y="3374109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7"/>
              </a:rPr>
              <a:t>Groundwater Levels (NITI Aayog)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F0CE2DA-417F-D2EB-2593-2F5E3BEB4F65}"/>
              </a:ext>
            </a:extLst>
          </p:cNvPr>
          <p:cNvSpPr txBox="1"/>
          <p:nvPr/>
        </p:nvSpPr>
        <p:spPr>
          <a:xfrm>
            <a:off x="599403" y="4129765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8"/>
              </a:rPr>
              <a:t>Aquifer Mapping (INGRESS)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4D1F62A-7A1D-99DE-7A82-EFD536A96665}"/>
              </a:ext>
            </a:extLst>
          </p:cNvPr>
          <p:cNvSpPr txBox="1"/>
          <p:nvPr/>
        </p:nvSpPr>
        <p:spPr>
          <a:xfrm>
            <a:off x="599405" y="4854178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9"/>
              </a:rPr>
              <a:t>Types of Recharge Trenches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277DAF8-BF6F-42AD-EEC7-05A3CD85A960}"/>
              </a:ext>
            </a:extLst>
          </p:cNvPr>
          <p:cNvSpPr txBox="1"/>
          <p:nvPr/>
        </p:nvSpPr>
        <p:spPr>
          <a:xfrm>
            <a:off x="599405" y="1972122"/>
            <a:ext cx="10865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Guides in assessing sustainable groundwater extraction and recharge potential. Estimates groundwater recharge using a water balance approach.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DE9F252F-E76F-AE0C-073D-369A63DB7EEB}"/>
              </a:ext>
            </a:extLst>
          </p:cNvPr>
          <p:cNvSpPr txBox="1"/>
          <p:nvPr/>
        </p:nvSpPr>
        <p:spPr>
          <a:xfrm>
            <a:off x="599405" y="5134867"/>
            <a:ext cx="10865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Depth, width, and spacing depend on local soil and hydrological conditions.</a:t>
            </a:r>
            <a:br>
              <a:rPr lang="en-US" dirty="0"/>
            </a:b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0964863-3054-383D-3CF6-B61C87203306}"/>
              </a:ext>
            </a:extLst>
          </p:cNvPr>
          <p:cNvSpPr txBox="1"/>
          <p:nvPr/>
        </p:nvSpPr>
        <p:spPr>
          <a:xfrm>
            <a:off x="599403" y="4437556"/>
            <a:ext cx="1086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Identifies areas suitable for recharge interventions and assesses aquifer health.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8E34558-30B6-980F-419F-4A067E843E0C}"/>
              </a:ext>
            </a:extLst>
          </p:cNvPr>
          <p:cNvSpPr txBox="1"/>
          <p:nvPr/>
        </p:nvSpPr>
        <p:spPr>
          <a:xfrm>
            <a:off x="609600" y="3673124"/>
            <a:ext cx="1086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Monitors groundwater trends, aiding in sustainable management strategies.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26148461-76EE-744E-BE4F-B6A6E1BE8CCB}"/>
              </a:ext>
            </a:extLst>
          </p:cNvPr>
          <p:cNvSpPr txBox="1"/>
          <p:nvPr/>
        </p:nvSpPr>
        <p:spPr>
          <a:xfrm>
            <a:off x="609600" y="5848245"/>
            <a:ext cx="1086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Assists in understanding regional groundwater availability and planning recharge interventions.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04059D3-718F-70C8-F37C-DF644ADAD005}"/>
              </a:ext>
            </a:extLst>
          </p:cNvPr>
          <p:cNvSpPr txBox="1"/>
          <p:nvPr/>
        </p:nvSpPr>
        <p:spPr>
          <a:xfrm>
            <a:off x="609600" y="2957409"/>
            <a:ext cx="1086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Essential for estimating natural recharge and planning artificial recharge structures.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="" xmlns:a16="http://schemas.microsoft.com/office/drawing/2014/main" id="{66824A1D-1931-F2F4-B0D7-45E79D3A6397}"/>
              </a:ext>
            </a:extLst>
          </p:cNvPr>
          <p:cNvSpPr/>
          <p:nvPr/>
        </p:nvSpPr>
        <p:spPr>
          <a:xfrm>
            <a:off x="183237" y="1772724"/>
            <a:ext cx="413359" cy="247229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="" xmlns:a16="http://schemas.microsoft.com/office/drawing/2014/main" id="{9CC2F315-370A-DD41-41B9-24F34D7B10F8}"/>
              </a:ext>
            </a:extLst>
          </p:cNvPr>
          <p:cNvSpPr/>
          <p:nvPr/>
        </p:nvSpPr>
        <p:spPr>
          <a:xfrm>
            <a:off x="183236" y="2755709"/>
            <a:ext cx="413359" cy="247229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="" xmlns:a16="http://schemas.microsoft.com/office/drawing/2014/main" id="{6F437738-1F15-942A-29F9-BBAFDDDF8D68}"/>
              </a:ext>
            </a:extLst>
          </p:cNvPr>
          <p:cNvSpPr/>
          <p:nvPr/>
        </p:nvSpPr>
        <p:spPr>
          <a:xfrm>
            <a:off x="183237" y="3436436"/>
            <a:ext cx="413359" cy="247229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="" xmlns:a16="http://schemas.microsoft.com/office/drawing/2014/main" id="{7DB76979-31BA-B6B8-F105-46CE4AC4AA60}"/>
              </a:ext>
            </a:extLst>
          </p:cNvPr>
          <p:cNvSpPr/>
          <p:nvPr/>
        </p:nvSpPr>
        <p:spPr>
          <a:xfrm>
            <a:off x="196240" y="4185113"/>
            <a:ext cx="413359" cy="247229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="" xmlns:a16="http://schemas.microsoft.com/office/drawing/2014/main" id="{D455EFEE-1A23-2BAA-45C5-A45E54454099}"/>
              </a:ext>
            </a:extLst>
          </p:cNvPr>
          <p:cNvSpPr/>
          <p:nvPr/>
        </p:nvSpPr>
        <p:spPr>
          <a:xfrm>
            <a:off x="183237" y="4913460"/>
            <a:ext cx="413359" cy="247229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="" xmlns:a16="http://schemas.microsoft.com/office/drawing/2014/main" id="{B955432F-9236-4DD9-F401-088010B6A192}"/>
              </a:ext>
            </a:extLst>
          </p:cNvPr>
          <p:cNvSpPr/>
          <p:nvPr/>
        </p:nvSpPr>
        <p:spPr>
          <a:xfrm>
            <a:off x="196241" y="5592877"/>
            <a:ext cx="413359" cy="247229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8143</TotalTime>
  <Words>766</Words>
  <Application>Microsoft Office PowerPoint</Application>
  <PresentationFormat>Custom</PresentationFormat>
  <Paragraphs>141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AQUALYTICS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USER</cp:lastModifiedBy>
  <cp:revision>164</cp:revision>
  <dcterms:created xsi:type="dcterms:W3CDTF">2013-12-12T18:46:50Z</dcterms:created>
  <dcterms:modified xsi:type="dcterms:W3CDTF">2025-09-11T05:57:11Z</dcterms:modified>
  <cp:category/>
</cp:coreProperties>
</file>